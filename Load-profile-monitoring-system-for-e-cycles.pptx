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13" r:id="rId1"/>
  </p:sldMasterIdLst>
  <p:sldIdLst>
    <p:sldId id="256" r:id="rId2"/>
    <p:sldId id="289" r:id="rId3"/>
    <p:sldId id="278" r:id="rId4"/>
    <p:sldId id="283" r:id="rId5"/>
    <p:sldId id="258" r:id="rId6"/>
    <p:sldId id="259" r:id="rId7"/>
    <p:sldId id="271" r:id="rId8"/>
    <p:sldId id="272" r:id="rId9"/>
    <p:sldId id="281" r:id="rId10"/>
    <p:sldId id="275" r:id="rId11"/>
    <p:sldId id="273" r:id="rId12"/>
    <p:sldId id="279" r:id="rId13"/>
    <p:sldId id="274" r:id="rId14"/>
    <p:sldId id="276" r:id="rId15"/>
    <p:sldId id="282" r:id="rId16"/>
    <p:sldId id="277" r:id="rId17"/>
    <p:sldId id="280" r:id="rId18"/>
    <p:sldId id="284" r:id="rId19"/>
    <p:sldId id="285" r:id="rId20"/>
    <p:sldId id="262" r:id="rId21"/>
    <p:sldId id="28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681E4D-7E49-4356-AF83-B56C6DE212FD}" type="datetimeFigureOut">
              <a:rPr lang="en-IN" smtClean="0"/>
              <a:t>03-07-2026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369AE-2DDD-4BD2-8786-716C905E75A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67565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81E4D-7E49-4356-AF83-B56C6DE212FD}" type="datetimeFigureOut">
              <a:rPr lang="en-IN" smtClean="0"/>
              <a:t>03-07-2026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282054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681E4D-7E49-4356-AF83-B56C6DE212FD}" type="datetimeFigureOut">
              <a:rPr lang="en-IN" smtClean="0"/>
              <a:t>03-07-2026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369AE-2DDD-4BD2-8786-716C905E75A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55303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681E4D-7E49-4356-AF83-B56C6DE212FD}" type="datetimeFigureOut">
              <a:rPr lang="en-IN" smtClean="0"/>
              <a:t>03-07-2026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1949882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681E4D-7E49-4356-AF83-B56C6DE212FD}" type="datetimeFigureOut">
              <a:rPr lang="en-IN" smtClean="0"/>
              <a:t>03-07-2026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1117454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681E4D-7E49-4356-AF83-B56C6DE212FD}" type="datetimeFigureOut">
              <a:rPr lang="en-IN" smtClean="0"/>
              <a:t>03-07-2026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387585280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0681E4D-7E49-4356-AF83-B56C6DE212FD}" type="datetimeFigureOut">
              <a:rPr lang="en-IN" smtClean="0"/>
              <a:t>03-07-2026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38023358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0681E4D-7E49-4356-AF83-B56C6DE212FD}" type="datetimeFigureOut">
              <a:rPr lang="en-IN" smtClean="0"/>
              <a:t>03-07-2026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07369AE-2DDD-4BD2-8786-716C905E75AB}" type="slidenum">
              <a:rPr lang="en-IN" smtClean="0"/>
              <a:t>‹#›</a:t>
            </a:fld>
            <a:endParaRPr lang="en-IN"/>
          </a:p>
        </p:txBody>
      </p:sp>
    </p:spTree>
    <p:extLst>
      <p:ext uri="{BB962C8B-B14F-4D97-AF65-F5344CB8AC3E}">
        <p14:creationId xmlns:p14="http://schemas.microsoft.com/office/powerpoint/2010/main" val="4079062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681E4D-7E49-4356-AF83-B56C6DE212FD}" type="datetimeFigureOut">
              <a:rPr lang="en-IN" smtClean="0"/>
              <a:t>03-07-2026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129052985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81E4D-7E49-4356-AF83-B56C6DE212FD}" type="datetimeFigureOut">
              <a:rPr lang="en-IN" smtClean="0"/>
              <a:t>03-07-2026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3974229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81E4D-7E49-4356-AF83-B56C6DE212FD}" type="datetimeFigureOut">
              <a:rPr lang="en-IN" smtClean="0"/>
              <a:t>03-07-2026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7369AE-2DDD-4BD2-8786-716C905E75AB}" type="slidenum">
              <a:rPr lang="en-IN" smtClean="0"/>
              <a:t>‹#›</a:t>
            </a:fld>
            <a:endParaRPr lang="en-IN"/>
          </a:p>
        </p:txBody>
      </p:sp>
    </p:spTree>
    <p:extLst>
      <p:ext uri="{BB962C8B-B14F-4D97-AF65-F5344CB8AC3E}">
        <p14:creationId xmlns:p14="http://schemas.microsoft.com/office/powerpoint/2010/main" val="528103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0681E4D-7E49-4356-AF83-B56C6DE212FD}" type="datetimeFigureOut">
              <a:rPr lang="en-IN" smtClean="0"/>
              <a:t>03-07-2026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07369AE-2DDD-4BD2-8786-716C905E75A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169450"/>
      </p:ext>
    </p:extLst>
  </p:cSld>
  <p:clrMap bg1="lt1" tx1="dk1" bg2="lt2" tx2="dk2" accent1="accent1" accent2="accent2" accent3="accent3" accent4="accent4" accent5="accent5" accent6="accent6" hlink="hlink" folHlink="folHlink"/>
  <p:sldLayoutIdLst>
    <p:sldLayoutId id="2147484614" r:id="rId1"/>
    <p:sldLayoutId id="2147484615" r:id="rId2"/>
    <p:sldLayoutId id="2147484616" r:id="rId3"/>
    <p:sldLayoutId id="2147484617" r:id="rId4"/>
    <p:sldLayoutId id="2147484618" r:id="rId5"/>
    <p:sldLayoutId id="2147484619" r:id="rId6"/>
    <p:sldLayoutId id="2147484620" r:id="rId7"/>
    <p:sldLayoutId id="2147484621" r:id="rId8"/>
    <p:sldLayoutId id="2147484622" r:id="rId9"/>
    <p:sldLayoutId id="2147484623" r:id="rId10"/>
    <p:sldLayoutId id="2147484624" r:id="rId11"/>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CE0EF-5C3C-5967-4BE4-0E4F5E4EAD64}"/>
              </a:ext>
            </a:extLst>
          </p:cNvPr>
          <p:cNvSpPr>
            <a:spLocks noGrp="1"/>
          </p:cNvSpPr>
          <p:nvPr>
            <p:ph type="ctrTitle"/>
          </p:nvPr>
        </p:nvSpPr>
        <p:spPr/>
        <p:txBody>
          <a:bodyPr>
            <a:normAutofit/>
          </a:bodyPr>
          <a:lstStyle/>
          <a:p>
            <a:r>
              <a:rPr lang="en-IN" sz="5000" dirty="0">
                <a:latin typeface="Century Gothic" panose="020B0502020202020204" pitchFamily="34" charset="0"/>
              </a:rPr>
              <a:t>Load Profile Monitoring System</a:t>
            </a:r>
          </a:p>
        </p:txBody>
      </p:sp>
      <p:sp>
        <p:nvSpPr>
          <p:cNvPr id="3" name="Subtitle 2">
            <a:extLst>
              <a:ext uri="{FF2B5EF4-FFF2-40B4-BE49-F238E27FC236}">
                <a16:creationId xmlns:a16="http://schemas.microsoft.com/office/drawing/2014/main" id="{4C031ED9-8A71-E368-F7DC-76A844965E9C}"/>
              </a:ext>
            </a:extLst>
          </p:cNvPr>
          <p:cNvSpPr>
            <a:spLocks noGrp="1"/>
          </p:cNvSpPr>
          <p:nvPr>
            <p:ph type="subTitle" idx="1"/>
          </p:nvPr>
        </p:nvSpPr>
        <p:spPr/>
        <p:txBody>
          <a:bodyPr>
            <a:normAutofit/>
          </a:bodyPr>
          <a:lstStyle/>
          <a:p>
            <a:endParaRPr lang="en-IN" dirty="0"/>
          </a:p>
        </p:txBody>
      </p:sp>
    </p:spTree>
    <p:extLst>
      <p:ext uri="{BB962C8B-B14F-4D97-AF65-F5344CB8AC3E}">
        <p14:creationId xmlns:p14="http://schemas.microsoft.com/office/powerpoint/2010/main" val="107369618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1016-1816-80B7-E9FC-502734782A5D}"/>
              </a:ext>
            </a:extLst>
          </p:cNvPr>
          <p:cNvSpPr>
            <a:spLocks noGrp="1"/>
          </p:cNvSpPr>
          <p:nvPr>
            <p:ph type="title"/>
          </p:nvPr>
        </p:nvSpPr>
        <p:spPr/>
        <p:txBody>
          <a:bodyPr>
            <a:normAutofit/>
          </a:bodyPr>
          <a:lstStyle/>
          <a:p>
            <a:r>
              <a:rPr lang="en-US" sz="5000" dirty="0">
                <a:latin typeface="Century Gothic" panose="020B0502020202020204" pitchFamily="34" charset="0"/>
              </a:rPr>
              <a:t>Table of contents</a:t>
            </a:r>
            <a:endParaRPr lang="en-IN" sz="50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A793B013-2685-A543-D610-462BF180FB53}"/>
              </a:ext>
            </a:extLst>
          </p:cNvPr>
          <p:cNvSpPr>
            <a:spLocks noGrp="1"/>
          </p:cNvSpPr>
          <p:nvPr>
            <p:ph idx="1"/>
          </p:nvPr>
        </p:nvSpPr>
        <p:spPr/>
        <p:txBody>
          <a:bodyPr/>
          <a:lstStyle/>
          <a:p>
            <a:pPr>
              <a:buFont typeface="Arial" panose="020B0604020202020204" pitchFamily="34" charset="0"/>
              <a:buChar char="•"/>
            </a:pPr>
            <a:r>
              <a:rPr lang="en-US" sz="1800" dirty="0">
                <a:latin typeface="Century Gothic" panose="020B0502020202020204" pitchFamily="34" charset="0"/>
              </a:rPr>
              <a:t>Design of system</a:t>
            </a:r>
          </a:p>
          <a:p>
            <a:pPr>
              <a:buFont typeface="Arial" panose="020B0604020202020204" pitchFamily="34" charset="0"/>
              <a:buChar char="•"/>
            </a:pPr>
            <a:r>
              <a:rPr lang="en-US" sz="1800" dirty="0">
                <a:latin typeface="Century Gothic" panose="020B0502020202020204" pitchFamily="34" charset="0"/>
              </a:rPr>
              <a:t>Outline of project</a:t>
            </a:r>
          </a:p>
          <a:p>
            <a:pPr>
              <a:buFont typeface="Arial" panose="020B0604020202020204" pitchFamily="34" charset="0"/>
              <a:buChar char="•"/>
            </a:pPr>
            <a:r>
              <a:rPr lang="en-US" sz="1800" dirty="0">
                <a:latin typeface="Century Gothic" panose="020B0502020202020204" pitchFamily="34" charset="0"/>
              </a:rPr>
              <a:t>Factors influencing</a:t>
            </a:r>
          </a:p>
          <a:p>
            <a:pPr>
              <a:buFont typeface="Arial" panose="020B0604020202020204" pitchFamily="34" charset="0"/>
              <a:buChar char="•"/>
            </a:pPr>
            <a:r>
              <a:rPr lang="en-US" sz="1800" dirty="0">
                <a:latin typeface="Century Gothic" panose="020B0502020202020204" pitchFamily="34" charset="0"/>
              </a:rPr>
              <a:t>Slope variation</a:t>
            </a:r>
          </a:p>
          <a:p>
            <a:pPr>
              <a:buFont typeface="Arial" panose="020B0604020202020204" pitchFamily="34" charset="0"/>
              <a:buChar char="•"/>
            </a:pPr>
            <a:r>
              <a:rPr lang="en-US" sz="1800" dirty="0">
                <a:latin typeface="Century Gothic" panose="020B0502020202020204" pitchFamily="34" charset="0"/>
              </a:rPr>
              <a:t>Temperature variation</a:t>
            </a:r>
          </a:p>
          <a:p>
            <a:pPr>
              <a:buFont typeface="Arial" panose="020B0604020202020204" pitchFamily="34" charset="0"/>
              <a:buChar char="•"/>
            </a:pPr>
            <a:r>
              <a:rPr lang="en-US" sz="1800" dirty="0">
                <a:latin typeface="Century Gothic" panose="020B0502020202020204" pitchFamily="34" charset="0"/>
              </a:rPr>
              <a:t>Load variation</a:t>
            </a:r>
          </a:p>
          <a:p>
            <a:pPr>
              <a:buFont typeface="Arial" panose="020B0604020202020204" pitchFamily="34" charset="0"/>
              <a:buChar char="•"/>
            </a:pPr>
            <a:r>
              <a:rPr lang="en-US" sz="1800" dirty="0">
                <a:latin typeface="Century Gothic" panose="020B0502020202020204" pitchFamily="34" charset="0"/>
              </a:rPr>
              <a:t>Components used</a:t>
            </a:r>
          </a:p>
          <a:p>
            <a:pPr>
              <a:buFont typeface="Arial" panose="020B0604020202020204" pitchFamily="34" charset="0"/>
              <a:buChar char="•"/>
            </a:pPr>
            <a:endParaRPr lang="en-US"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2120533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9892A-BEBC-D691-8CAF-CFC56DAF1C8F}"/>
              </a:ext>
            </a:extLst>
          </p:cNvPr>
          <p:cNvSpPr>
            <a:spLocks noGrp="1"/>
          </p:cNvSpPr>
          <p:nvPr>
            <p:ph type="title"/>
          </p:nvPr>
        </p:nvSpPr>
        <p:spPr>
          <a:xfrm>
            <a:off x="1014952" y="816481"/>
            <a:ext cx="10878532" cy="1559074"/>
          </a:xfrm>
        </p:spPr>
        <p:txBody>
          <a:bodyPr>
            <a:noAutofit/>
          </a:bodyPr>
          <a:lstStyle/>
          <a:p>
            <a:r>
              <a:rPr lang="en-IN" sz="5000" dirty="0">
                <a:solidFill>
                  <a:schemeClr val="tx1"/>
                </a:solidFill>
                <a:latin typeface="Century Gothic" panose="020B0502020202020204" pitchFamily="34" charset="0"/>
              </a:rPr>
              <a:t>Design of a load monitoring system for an e-cycle</a:t>
            </a:r>
            <a:br>
              <a:rPr lang="en-IN" sz="5000" dirty="0">
                <a:latin typeface="Century Gothic" panose="020B0502020202020204" pitchFamily="34" charset="0"/>
              </a:rPr>
            </a:br>
            <a:endParaRPr lang="en-IN" sz="5000" dirty="0">
              <a:latin typeface="Century Gothic" panose="020B0502020202020204" pitchFamily="34" charset="0"/>
            </a:endParaRPr>
          </a:p>
        </p:txBody>
      </p:sp>
      <p:sp>
        <p:nvSpPr>
          <p:cNvPr id="3" name="Content Placeholder 2">
            <a:extLst>
              <a:ext uri="{FF2B5EF4-FFF2-40B4-BE49-F238E27FC236}">
                <a16:creationId xmlns:a16="http://schemas.microsoft.com/office/drawing/2014/main" id="{DF39FBAB-B01E-F0EB-495C-0B5B90A0F6B7}"/>
              </a:ext>
            </a:extLst>
          </p:cNvPr>
          <p:cNvSpPr>
            <a:spLocks noGrp="1"/>
          </p:cNvSpPr>
          <p:nvPr>
            <p:ph idx="1"/>
          </p:nvPr>
        </p:nvSpPr>
        <p:spPr>
          <a:xfrm>
            <a:off x="943451" y="2040527"/>
            <a:ext cx="10151898" cy="3804091"/>
          </a:xfrm>
        </p:spPr>
        <p:txBody>
          <a:bodyPr vert="horz" lIns="91440" tIns="45720" rIns="91440" bIns="45720" rtlCol="0" anchor="t">
            <a:normAutofit/>
          </a:bodyPr>
          <a:lstStyle/>
          <a:p>
            <a:r>
              <a:rPr lang="en-US" sz="1800" dirty="0">
                <a:latin typeface="Century Gothic" panose="020B0502020202020204" pitchFamily="34" charset="0"/>
              </a:rPr>
              <a:t>A </a:t>
            </a:r>
            <a:r>
              <a:rPr lang="en-US" sz="1800" b="1" dirty="0">
                <a:latin typeface="Century Gothic" panose="020B0502020202020204" pitchFamily="34" charset="0"/>
              </a:rPr>
              <a:t>"Load Profile Monitoring System for E-Cycles"</a:t>
            </a:r>
            <a:r>
              <a:rPr lang="en-US" sz="1800" dirty="0">
                <a:latin typeface="Century Gothic" panose="020B0502020202020204" pitchFamily="34" charset="0"/>
              </a:rPr>
              <a:t> refers to a system designed to track and analyze the power consumption patterns (load profiles) of electric bicycles (e-cycles). This system monitors the electrical load during different situations, such as moving uphill, downhill, to optimize energy usage, battery performance, and overall efficiency of the e-cycle. By analyzing this data, it can help improve battery life, detect faults, and optimize the performance of the e-cycle for various riding conditions.</a:t>
            </a:r>
            <a:endParaRPr lang="en-GB" sz="1800" dirty="0">
              <a:latin typeface="Century Gothic" panose="020B0502020202020204" pitchFamily="34" charset="0"/>
            </a:endParaRPr>
          </a:p>
          <a:p>
            <a:endParaRPr lang="en-IN" sz="1800" dirty="0">
              <a:latin typeface="Century Gothic" panose="020B0502020202020204" pitchFamily="34" charset="0"/>
            </a:endParaRPr>
          </a:p>
        </p:txBody>
      </p:sp>
    </p:spTree>
    <p:extLst>
      <p:ext uri="{BB962C8B-B14F-4D97-AF65-F5344CB8AC3E}">
        <p14:creationId xmlns:p14="http://schemas.microsoft.com/office/powerpoint/2010/main" val="341858653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11D1A-40DB-3E06-52FE-71934CAD8C96}"/>
              </a:ext>
            </a:extLst>
          </p:cNvPr>
          <p:cNvSpPr>
            <a:spLocks noGrp="1"/>
          </p:cNvSpPr>
          <p:nvPr>
            <p:ph type="title"/>
          </p:nvPr>
        </p:nvSpPr>
        <p:spPr>
          <a:xfrm>
            <a:off x="1141412" y="921841"/>
            <a:ext cx="9905998" cy="716571"/>
          </a:xfrm>
        </p:spPr>
        <p:txBody>
          <a:bodyPr>
            <a:noAutofit/>
          </a:bodyPr>
          <a:lstStyle/>
          <a:p>
            <a:r>
              <a:rPr lang="en-GB" sz="5000" dirty="0">
                <a:solidFill>
                  <a:schemeClr val="tx1"/>
                </a:solidFill>
                <a:latin typeface="Century Gothic" panose="020B0502020202020204" pitchFamily="34" charset="0"/>
              </a:rPr>
              <a:t>Outline of the project</a:t>
            </a:r>
          </a:p>
        </p:txBody>
      </p:sp>
      <p:sp>
        <p:nvSpPr>
          <p:cNvPr id="3" name="Content Placeholder 2">
            <a:extLst>
              <a:ext uri="{FF2B5EF4-FFF2-40B4-BE49-F238E27FC236}">
                <a16:creationId xmlns:a16="http://schemas.microsoft.com/office/drawing/2014/main" id="{6A7E4BD6-88B6-954C-15F3-ACE4FD21C88C}"/>
              </a:ext>
            </a:extLst>
          </p:cNvPr>
          <p:cNvSpPr>
            <a:spLocks noGrp="1"/>
          </p:cNvSpPr>
          <p:nvPr>
            <p:ph idx="1"/>
          </p:nvPr>
        </p:nvSpPr>
        <p:spPr>
          <a:xfrm>
            <a:off x="1141412" y="2118510"/>
            <a:ext cx="8285392" cy="4592037"/>
          </a:xfrm>
        </p:spPr>
        <p:txBody>
          <a:bodyPr vert="horz" lIns="91440" tIns="45720" rIns="91440" bIns="45720" rtlCol="0" anchor="t">
            <a:normAutofit/>
          </a:bodyPr>
          <a:lstStyle/>
          <a:p>
            <a:r>
              <a:rPr lang="en-GB" sz="1800" dirty="0">
                <a:solidFill>
                  <a:schemeClr val="tx1"/>
                </a:solidFill>
                <a:latin typeface="Century Gothic" panose="020B0502020202020204" pitchFamily="34" charset="0"/>
                <a:ea typeface="+mn-lt"/>
                <a:cs typeface="Arial"/>
              </a:rPr>
              <a:t>The projects primary goal is to provide insights into the energy usage of the e-cycle under different operating conditions, helping to optimize performance, extend battery life, and ensure efficient energy management. Data from the e-cycle is processed and presented in user-friendly formats (graphs, tables) that help understand how energy is used. This includes identifying periods of high load (like uphill riding) and low load (flat terrain or coasting).</a:t>
            </a:r>
            <a:endParaRPr lang="en-US" sz="1800" dirty="0">
              <a:solidFill>
                <a:schemeClr val="tx1"/>
              </a:solidFill>
              <a:latin typeface="Century Gothic" panose="020B0502020202020204" pitchFamily="34" charset="0"/>
              <a:ea typeface="+mn-lt"/>
              <a:cs typeface="Arial"/>
            </a:endParaRPr>
          </a:p>
        </p:txBody>
      </p:sp>
    </p:spTree>
    <p:extLst>
      <p:ext uri="{BB962C8B-B14F-4D97-AF65-F5344CB8AC3E}">
        <p14:creationId xmlns:p14="http://schemas.microsoft.com/office/powerpoint/2010/main" val="236233891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133D-A51B-43AE-BE04-72BB5F0B191E}"/>
              </a:ext>
            </a:extLst>
          </p:cNvPr>
          <p:cNvSpPr>
            <a:spLocks noGrp="1"/>
          </p:cNvSpPr>
          <p:nvPr>
            <p:ph type="ctrTitle"/>
          </p:nvPr>
        </p:nvSpPr>
        <p:spPr>
          <a:xfrm>
            <a:off x="1178838" y="452487"/>
            <a:ext cx="9322621" cy="1552169"/>
          </a:xfrm>
        </p:spPr>
        <p:txBody>
          <a:bodyPr>
            <a:normAutofit/>
          </a:bodyPr>
          <a:lstStyle/>
          <a:p>
            <a:r>
              <a:rPr lang="en-US" sz="5000" dirty="0">
                <a:latin typeface="Century Gothic" panose="020B0502020202020204" pitchFamily="34" charset="0"/>
              </a:rPr>
              <a:t>Load Profile of an Electric cycle</a:t>
            </a:r>
            <a:endParaRPr lang="en-IN" sz="5000" dirty="0">
              <a:latin typeface="Century Gothic" panose="020B0502020202020204" pitchFamily="34" charset="0"/>
            </a:endParaRPr>
          </a:p>
        </p:txBody>
      </p:sp>
      <p:sp>
        <p:nvSpPr>
          <p:cNvPr id="3" name="Subtitle 2">
            <a:extLst>
              <a:ext uri="{FF2B5EF4-FFF2-40B4-BE49-F238E27FC236}">
                <a16:creationId xmlns:a16="http://schemas.microsoft.com/office/drawing/2014/main" id="{AB089247-1454-4B5C-52B8-0B85F76C961A}"/>
              </a:ext>
            </a:extLst>
          </p:cNvPr>
          <p:cNvSpPr>
            <a:spLocks noGrp="1"/>
          </p:cNvSpPr>
          <p:nvPr>
            <p:ph type="subTitle" idx="1"/>
          </p:nvPr>
        </p:nvSpPr>
        <p:spPr>
          <a:xfrm>
            <a:off x="1178838" y="2346813"/>
            <a:ext cx="8559051" cy="2666788"/>
          </a:xfrm>
        </p:spPr>
        <p:txBody>
          <a:bodyPr vert="horz" lIns="91440" tIns="45720" rIns="91440" bIns="45720" rtlCol="0" anchor="t">
            <a:noAutofit/>
          </a:bodyPr>
          <a:lstStyle/>
          <a:p>
            <a:r>
              <a:rPr lang="en-IN" sz="1800" cap="none" dirty="0">
                <a:solidFill>
                  <a:schemeClr val="tx1"/>
                </a:solidFill>
                <a:latin typeface="Century Gothic" panose="020B0502020202020204" pitchFamily="34" charset="0"/>
                <a:ea typeface="+mn-lt"/>
                <a:cs typeface="+mn-lt"/>
              </a:rPr>
              <a:t>Load profile refers to the pattern of electrical power demand or energy consumption over time, based on various operating conditions such as speed, terrain, rider input, and motor usage. It provides a detailed view of how much power the e-bike’s motor requires under different circumstances, affecting the battery's discharge rate and overall performance.</a:t>
            </a:r>
            <a:endParaRPr lang="en-US" sz="1800" cap="none"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319387079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B2CF5-2DAF-1D98-CA65-C263E16E4DAA}"/>
              </a:ext>
            </a:extLst>
          </p:cNvPr>
          <p:cNvSpPr>
            <a:spLocks noGrp="1"/>
          </p:cNvSpPr>
          <p:nvPr>
            <p:ph type="ctrTitle"/>
          </p:nvPr>
        </p:nvSpPr>
        <p:spPr>
          <a:xfrm>
            <a:off x="1225974" y="669877"/>
            <a:ext cx="9859948" cy="2387600"/>
          </a:xfrm>
        </p:spPr>
        <p:txBody>
          <a:bodyPr>
            <a:normAutofit fontScale="90000"/>
          </a:bodyPr>
          <a:lstStyle/>
          <a:p>
            <a:r>
              <a:rPr lang="en-IN" sz="5600" dirty="0">
                <a:latin typeface="Century Gothic" panose="020B0502020202020204" pitchFamily="34" charset="0"/>
              </a:rPr>
              <a:t>Factors influencing Load Profile of an e-cycle</a:t>
            </a:r>
            <a:br>
              <a:rPr lang="en-IN" dirty="0">
                <a:latin typeface="Century Gothic" panose="020B0502020202020204" pitchFamily="34" charset="0"/>
              </a:rPr>
            </a:br>
            <a:endParaRPr lang="en-IN" dirty="0">
              <a:latin typeface="Century Gothic" panose="020B0502020202020204" pitchFamily="34" charset="0"/>
            </a:endParaRPr>
          </a:p>
        </p:txBody>
      </p:sp>
      <p:sp>
        <p:nvSpPr>
          <p:cNvPr id="3" name="Subtitle 2">
            <a:extLst>
              <a:ext uri="{FF2B5EF4-FFF2-40B4-BE49-F238E27FC236}">
                <a16:creationId xmlns:a16="http://schemas.microsoft.com/office/drawing/2014/main" id="{13D9B4CC-4A9A-51D7-A0E3-00C184504AC9}"/>
              </a:ext>
            </a:extLst>
          </p:cNvPr>
          <p:cNvSpPr>
            <a:spLocks noGrp="1"/>
          </p:cNvSpPr>
          <p:nvPr>
            <p:ph type="subTitle" idx="1"/>
          </p:nvPr>
        </p:nvSpPr>
        <p:spPr>
          <a:xfrm>
            <a:off x="1376804" y="2516957"/>
            <a:ext cx="9859947" cy="3459637"/>
          </a:xfrm>
        </p:spPr>
        <p:txBody>
          <a:bodyPr>
            <a:normAutofit fontScale="62500" lnSpcReduction="20000"/>
          </a:bodyPr>
          <a:lstStyle/>
          <a:p>
            <a:pPr marL="342900" lvl="0" indent="-342900">
              <a:lnSpc>
                <a:spcPct val="115000"/>
              </a:lnSpc>
              <a:spcBef>
                <a:spcPts val="1200"/>
              </a:spcBef>
              <a:spcAft>
                <a:spcPts val="0"/>
              </a:spcAft>
              <a:buFont typeface="Arial" panose="020B0604020202020204" pitchFamily="34" charset="0"/>
              <a:buChar char="●"/>
            </a:pPr>
            <a:r>
              <a:rPr lang="en-GB" sz="2600" b="1" u="none" strike="noStrike" cap="none" dirty="0">
                <a:solidFill>
                  <a:schemeClr val="tx1"/>
                </a:solidFill>
                <a:effectLst/>
                <a:latin typeface="Century Gothic" panose="020B0502020202020204" pitchFamily="34" charset="0"/>
                <a:ea typeface="Arial" panose="020B0604020202020204" pitchFamily="34" charset="0"/>
              </a:rPr>
              <a:t>Weight of the rider and cargo: </a:t>
            </a:r>
            <a:r>
              <a:rPr lang="en-GB" sz="2600" u="none" strike="noStrike" cap="none" dirty="0">
                <a:solidFill>
                  <a:schemeClr val="tx1"/>
                </a:solidFill>
                <a:effectLst/>
                <a:latin typeface="Century Gothic" panose="020B0502020202020204" pitchFamily="34" charset="0"/>
                <a:ea typeface="Arial" panose="020B0604020202020204" pitchFamily="34" charset="0"/>
              </a:rPr>
              <a:t>heavier loads increase the demand on the motor, especially when climbing hills.</a:t>
            </a:r>
            <a:endParaRPr lang="en-IN" sz="2600" u="none" strike="noStrike" cap="non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2600" b="1" u="none" strike="noStrike" cap="none" dirty="0">
                <a:solidFill>
                  <a:schemeClr val="tx1"/>
                </a:solidFill>
                <a:effectLst/>
                <a:latin typeface="Century Gothic" panose="020B0502020202020204" pitchFamily="34" charset="0"/>
                <a:ea typeface="Arial" panose="020B0604020202020204" pitchFamily="34" charset="0"/>
              </a:rPr>
              <a:t>Speed: </a:t>
            </a:r>
            <a:r>
              <a:rPr lang="en-GB" sz="2600" u="none" strike="noStrike" cap="none" dirty="0">
                <a:solidFill>
                  <a:schemeClr val="tx1"/>
                </a:solidFill>
                <a:effectLst/>
                <a:latin typeface="Century Gothic" panose="020B0502020202020204" pitchFamily="34" charset="0"/>
                <a:ea typeface="Arial" panose="020B0604020202020204" pitchFamily="34" charset="0"/>
              </a:rPr>
              <a:t>higher speeds demand more power due to air resistance and friction.</a:t>
            </a:r>
            <a:endParaRPr lang="en-IN" sz="2600" u="none" strike="noStrike" cap="non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2600" b="1" u="none" strike="noStrike" cap="none" dirty="0">
                <a:solidFill>
                  <a:schemeClr val="tx1"/>
                </a:solidFill>
                <a:effectLst/>
                <a:latin typeface="Century Gothic" panose="020B0502020202020204" pitchFamily="34" charset="0"/>
                <a:ea typeface="Arial" panose="020B0604020202020204" pitchFamily="34" charset="0"/>
              </a:rPr>
              <a:t>Motor efficiency:</a:t>
            </a:r>
            <a:r>
              <a:rPr lang="en-GB" sz="2600" u="none" strike="noStrike" cap="none" dirty="0">
                <a:solidFill>
                  <a:schemeClr val="tx1"/>
                </a:solidFill>
                <a:effectLst/>
                <a:latin typeface="Century Gothic" panose="020B0502020202020204" pitchFamily="34" charset="0"/>
                <a:ea typeface="Arial" panose="020B0604020202020204" pitchFamily="34" charset="0"/>
              </a:rPr>
              <a:t> a more efficient motor will draw less power for the same performance, resulting in a lower load.</a:t>
            </a:r>
            <a:endParaRPr lang="en-IN" sz="2600" u="none" strike="noStrike" cap="non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2600" b="1" u="none" strike="noStrike" cap="none" dirty="0">
                <a:solidFill>
                  <a:schemeClr val="tx1"/>
                </a:solidFill>
                <a:effectLst/>
                <a:latin typeface="Century Gothic" panose="020B0502020202020204" pitchFamily="34" charset="0"/>
                <a:ea typeface="Arial" panose="020B0604020202020204" pitchFamily="34" charset="0"/>
              </a:rPr>
              <a:t>Battery capacity:</a:t>
            </a:r>
            <a:r>
              <a:rPr lang="en-GB" sz="2600" u="none" strike="noStrike" cap="none" dirty="0">
                <a:solidFill>
                  <a:schemeClr val="tx1"/>
                </a:solidFill>
                <a:effectLst/>
                <a:latin typeface="Century Gothic" panose="020B0502020202020204" pitchFamily="34" charset="0"/>
                <a:ea typeface="Arial" panose="020B0604020202020204" pitchFamily="34" charset="0"/>
              </a:rPr>
              <a:t> larger batteries may handle peak loads better without significant performance drops.</a:t>
            </a:r>
            <a:endParaRPr lang="en-IN" sz="2600" u="none" strike="noStrike" cap="non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spcAft>
                <a:spcPts val="1200"/>
              </a:spcAft>
              <a:buFont typeface="Arial" panose="020B0604020202020204" pitchFamily="34" charset="0"/>
              <a:buChar char="●"/>
            </a:pPr>
            <a:r>
              <a:rPr lang="en-GB" sz="2600" b="1" u="none" strike="noStrike" cap="none" dirty="0">
                <a:solidFill>
                  <a:schemeClr val="tx1"/>
                </a:solidFill>
                <a:effectLst/>
                <a:latin typeface="Century Gothic" panose="020B0502020202020204" pitchFamily="34" charset="0"/>
                <a:ea typeface="Arial" panose="020B0604020202020204" pitchFamily="34" charset="0"/>
              </a:rPr>
              <a:t>Terrain and road conditions: </a:t>
            </a:r>
            <a:r>
              <a:rPr lang="en-GB" sz="2600" u="none" strike="noStrike" cap="none" dirty="0">
                <a:solidFill>
                  <a:schemeClr val="tx1"/>
                </a:solidFill>
                <a:effectLst/>
                <a:latin typeface="Century Gothic" panose="020B0502020202020204" pitchFamily="34" charset="0"/>
                <a:ea typeface="Arial" panose="020B0604020202020204" pitchFamily="34" charset="0"/>
              </a:rPr>
              <a:t>rough or uneven surfaces increase resistance, leading to a higher load.</a:t>
            </a:r>
            <a:endParaRPr lang="en-IN" sz="2600" u="none" strike="noStrike" cap="none" dirty="0">
              <a:solidFill>
                <a:schemeClr val="tx1"/>
              </a:solidFill>
              <a:effectLst/>
              <a:latin typeface="Century Gothic" panose="020B0502020202020204" pitchFamily="34" charset="0"/>
              <a:ea typeface="Arial" panose="020B0604020202020204" pitchFamily="34" charset="0"/>
            </a:endParaRPr>
          </a:p>
          <a:p>
            <a:endParaRPr lang="en-IN" cap="none"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18229008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097280" y="1725105"/>
            <a:ext cx="10058400" cy="2015545"/>
          </a:xfrm>
        </p:spPr>
        <p:txBody>
          <a:bodyPr>
            <a:normAutofit/>
          </a:bodyPr>
          <a:lstStyle/>
          <a:p>
            <a:r>
              <a:rPr lang="en-IN" sz="5000" dirty="0">
                <a:latin typeface="Century Gothic" panose="020B0502020202020204" pitchFamily="34" charset="0"/>
              </a:rPr>
              <a:t>Factors considered for this project</a:t>
            </a: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066800" y="4493328"/>
            <a:ext cx="10058400" cy="1143000"/>
          </a:xfrm>
        </p:spPr>
        <p:txBody>
          <a:bodyPr>
            <a:noAutofit/>
          </a:bodyPr>
          <a:lstStyle/>
          <a:p>
            <a:pPr marL="457200" indent="-457200">
              <a:buAutoNum type="arabicPeriod"/>
            </a:pPr>
            <a:r>
              <a:rPr lang="en-US" sz="2500" dirty="0">
                <a:solidFill>
                  <a:schemeClr val="tx1"/>
                </a:solidFill>
                <a:latin typeface="Century Gothic" panose="020B0502020202020204" pitchFamily="34" charset="0"/>
              </a:rPr>
              <a:t>SLOPE VARIATIONS</a:t>
            </a:r>
          </a:p>
          <a:p>
            <a:pPr marL="457200" indent="-457200">
              <a:buAutoNum type="arabicPeriod"/>
            </a:pPr>
            <a:r>
              <a:rPr lang="en-IN" sz="2500" dirty="0">
                <a:solidFill>
                  <a:schemeClr val="tx1"/>
                </a:solidFill>
                <a:latin typeface="Century Gothic" panose="020B0502020202020204" pitchFamily="34" charset="0"/>
              </a:rPr>
              <a:t>TEMPERATURE VARIATIONS</a:t>
            </a:r>
          </a:p>
          <a:p>
            <a:pPr marL="457200" indent="-457200">
              <a:buAutoNum type="arabicPeriod"/>
            </a:pPr>
            <a:r>
              <a:rPr lang="en-US" sz="2500" dirty="0">
                <a:solidFill>
                  <a:schemeClr val="tx1"/>
                </a:solidFill>
                <a:latin typeface="Century Gothic" panose="020B0502020202020204" pitchFamily="34" charset="0"/>
              </a:rPr>
              <a:t>LOAD VARIATIONS</a:t>
            </a:r>
            <a:endParaRPr lang="en-IN" sz="25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422487700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122279" y="2235200"/>
            <a:ext cx="8791575" cy="2387600"/>
          </a:xfrm>
        </p:spPr>
        <p:txBody>
          <a:bodyPr>
            <a:normAutofit fontScale="90000"/>
          </a:bodyPr>
          <a:lstStyle/>
          <a:p>
            <a:r>
              <a:rPr lang="en-IN" sz="5600" dirty="0">
                <a:latin typeface="Century Gothic" panose="020B0502020202020204" pitchFamily="34" charset="0"/>
              </a:rPr>
              <a:t>SLOPE Variations</a:t>
            </a:r>
            <a:br>
              <a:rPr lang="en-IN" dirty="0">
                <a:latin typeface="Century Gothic" panose="020B0502020202020204" pitchFamily="34" charset="0"/>
              </a:rPr>
            </a:br>
            <a:br>
              <a:rPr lang="en-IN" dirty="0">
                <a:latin typeface="Century Gothic" panose="020B0502020202020204" pitchFamily="34" charset="0"/>
              </a:rPr>
            </a:br>
            <a:br>
              <a:rPr lang="en-IN" dirty="0">
                <a:latin typeface="Century Gothic" panose="020B0502020202020204" pitchFamily="34" charset="0"/>
              </a:rPr>
            </a:br>
            <a:endParaRPr lang="en-IN" dirty="0">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254254" y="2831283"/>
            <a:ext cx="6694328" cy="4026717"/>
          </a:xfrm>
        </p:spPr>
        <p:txBody>
          <a:bodyPr>
            <a:normAutofit/>
          </a:bodyPr>
          <a:lstStyle/>
          <a:p>
            <a:pPr marL="457200" lvl="0" indent="-457200">
              <a:lnSpc>
                <a:spcPct val="115000"/>
              </a:lnSpc>
              <a:buFont typeface="+mj-lt"/>
              <a:buAutoNum type="arabicPeriod"/>
            </a:pPr>
            <a:r>
              <a:rPr lang="en-IN" sz="2500" dirty="0">
                <a:solidFill>
                  <a:schemeClr val="tx1"/>
                </a:solidFill>
                <a:latin typeface="Century Gothic" panose="020B0502020202020204" pitchFamily="34" charset="0"/>
              </a:rPr>
              <a:t>Uphill motion</a:t>
            </a:r>
          </a:p>
          <a:p>
            <a:pPr marL="457200" lvl="0" indent="-457200">
              <a:lnSpc>
                <a:spcPct val="115000"/>
              </a:lnSpc>
              <a:buFont typeface="+mj-lt"/>
              <a:buAutoNum type="arabicPeriod"/>
            </a:pPr>
            <a:r>
              <a:rPr lang="en-IN" sz="2500" dirty="0">
                <a:solidFill>
                  <a:schemeClr val="tx1"/>
                </a:solidFill>
                <a:latin typeface="Century Gothic" panose="020B0502020202020204" pitchFamily="34" charset="0"/>
              </a:rPr>
              <a:t>Downhill motion</a:t>
            </a:r>
          </a:p>
        </p:txBody>
      </p:sp>
    </p:spTree>
    <p:extLst>
      <p:ext uri="{BB962C8B-B14F-4D97-AF65-F5344CB8AC3E}">
        <p14:creationId xmlns:p14="http://schemas.microsoft.com/office/powerpoint/2010/main" val="106890758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159497" y="1123306"/>
            <a:ext cx="8791575" cy="2387600"/>
          </a:xfrm>
        </p:spPr>
        <p:txBody>
          <a:bodyPr>
            <a:normAutofit fontScale="90000"/>
          </a:bodyPr>
          <a:lstStyle/>
          <a:p>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r>
              <a:rPr lang="en-IN" sz="2800" dirty="0">
                <a:solidFill>
                  <a:schemeClr val="tx1"/>
                </a:solidFill>
                <a:latin typeface="Century Gothic" panose="020B0502020202020204" pitchFamily="34" charset="0"/>
              </a:rPr>
              <a:t>1. UPHILL MOTION</a:t>
            </a:r>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endParaRPr lang="en-IN" dirty="0">
              <a:solidFill>
                <a:schemeClr val="tx1"/>
              </a:solidFill>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159497" y="784452"/>
            <a:ext cx="9860437" cy="4778477"/>
          </a:xfrm>
        </p:spPr>
        <p:txBody>
          <a:bodyPr>
            <a:normAutofit fontScale="25000" lnSpcReduction="20000"/>
          </a:bodyPr>
          <a:lstStyle/>
          <a:p>
            <a:pPr marL="342900" lvl="0" indent="-342900">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Higher power demand:</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The motor draws significantly more current from the battery.</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Power consumption increases with the steepness of the slope.</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Peak power is often reached during initial acceleration on an incline.</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Sustained high load:</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The load remains consistently high throughout the climb.</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Power draw may fluctuate based on pedal assist level and rider input.</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Battery discharge rate:</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Faster discharge compared to level ground.</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The battery discharge rate increases with the slope of the hill.</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Heat generation:</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Increased heat generation in the motor and battery.</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spcAft>
                <a:spcPts val="1200"/>
              </a:spcAft>
              <a:buFont typeface="Arial" panose="020B0604020202020204" pitchFamily="34" charset="0"/>
              <a:buChar char="○"/>
            </a:pPr>
            <a:r>
              <a:rPr lang="en-GB" sz="7200" u="none" strike="noStrike" dirty="0">
                <a:solidFill>
                  <a:schemeClr val="tx1"/>
                </a:solidFill>
                <a:effectLst/>
                <a:latin typeface="Century Gothic" panose="020B0502020202020204" pitchFamily="34" charset="0"/>
                <a:ea typeface="Arial" panose="020B0604020202020204" pitchFamily="34" charset="0"/>
              </a:rPr>
              <a:t>This may cause the motor to malfunction.</a:t>
            </a:r>
            <a:endParaRPr lang="en-IN" sz="7200" u="none" strike="noStrike" dirty="0">
              <a:solidFill>
                <a:schemeClr val="tx1"/>
              </a:solidFill>
              <a:effectLst/>
              <a:latin typeface="Century Gothic" panose="020B0502020202020204" pitchFamily="34" charset="0"/>
              <a:ea typeface="Arial" panose="020B0604020202020204" pitchFamily="34" charset="0"/>
            </a:endParaRPr>
          </a:p>
          <a:p>
            <a:endParaRPr lang="en-IN"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233135278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162638" y="1600535"/>
            <a:ext cx="8791575" cy="2387600"/>
          </a:xfrm>
        </p:spPr>
        <p:txBody>
          <a:bodyPr>
            <a:normAutofit fontScale="90000"/>
          </a:bodyPr>
          <a:lstStyle/>
          <a:p>
            <a:r>
              <a:rPr lang="en-IN" sz="5600" dirty="0">
                <a:latin typeface="Century Gothic" panose="020B0502020202020204" pitchFamily="34" charset="0"/>
              </a:rPr>
              <a:t>SLOPE VARIATIONS</a:t>
            </a:r>
            <a:br>
              <a:rPr lang="en-IN" dirty="0">
                <a:latin typeface="Century Gothic" panose="020B0502020202020204" pitchFamily="34" charset="0"/>
              </a:rPr>
            </a:br>
            <a:br>
              <a:rPr lang="en-IN" dirty="0">
                <a:latin typeface="Century Gothic" panose="020B0502020202020204" pitchFamily="34" charset="0"/>
              </a:rPr>
            </a:br>
            <a:r>
              <a:rPr lang="en-IN" sz="2800" dirty="0">
                <a:latin typeface="Century Gothic" panose="020B0502020202020204" pitchFamily="34" charset="0"/>
              </a:rPr>
              <a:t>2. DOWNHILL MOTION</a:t>
            </a:r>
            <a:br>
              <a:rPr lang="en-IN" dirty="0">
                <a:latin typeface="Century Gothic" panose="020B0502020202020204" pitchFamily="34" charset="0"/>
              </a:rPr>
            </a:br>
            <a:br>
              <a:rPr lang="en-IN" dirty="0">
                <a:latin typeface="Century Gothic" panose="020B0502020202020204" pitchFamily="34" charset="0"/>
              </a:rPr>
            </a:br>
            <a:br>
              <a:rPr lang="en-IN" dirty="0">
                <a:latin typeface="Century Gothic" panose="020B0502020202020204" pitchFamily="34" charset="0"/>
              </a:rPr>
            </a:br>
            <a:endParaRPr lang="en-IN" dirty="0">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162638" y="1714035"/>
            <a:ext cx="9152938" cy="4234279"/>
          </a:xfrm>
        </p:spPr>
        <p:txBody>
          <a:bodyPr>
            <a:normAutofit lnSpcReduction="10000"/>
          </a:bodyPr>
          <a:lstStyle/>
          <a:p>
            <a:pPr marL="342900" lvl="0" indent="-342900">
              <a:lnSpc>
                <a:spcPct val="115000"/>
              </a:lnSpc>
              <a:spcBef>
                <a:spcPts val="1200"/>
              </a:spcBef>
              <a:spcAft>
                <a:spcPts val="0"/>
              </a:spcAft>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Reduced power demand:</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Significantly lower power draw from the battery.</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Power consumption decreases with the steepness of the slope.</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The motor may not be engaged if speed is maintained by gravity.</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Battery discharge state:</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Slower discharge rate compared to level ground.</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The battery discharge rate decreases with the slope of the hill.</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Speed control:</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Power may be used for electronic speed limiting on steep descents</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spcAft>
                <a:spcPts val="1200"/>
              </a:spcAft>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This creates short, controlled power draws</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lvl="0">
              <a:lnSpc>
                <a:spcPct val="115000"/>
              </a:lnSpc>
            </a:pPr>
            <a:endParaRPr lang="en-IN" sz="1100" u="none" strike="noStrike" dirty="0">
              <a:effectLst/>
              <a:latin typeface="Century Gothic" panose="020B0502020202020204" pitchFamily="34" charset="0"/>
              <a:ea typeface="Arial" panose="020B0604020202020204" pitchFamily="34" charset="0"/>
            </a:endParaRPr>
          </a:p>
        </p:txBody>
      </p:sp>
    </p:spTree>
    <p:extLst>
      <p:ext uri="{BB962C8B-B14F-4D97-AF65-F5344CB8AC3E}">
        <p14:creationId xmlns:p14="http://schemas.microsoft.com/office/powerpoint/2010/main" val="194853275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198902" y="975768"/>
            <a:ext cx="10058400" cy="3566160"/>
          </a:xfrm>
        </p:spPr>
        <p:txBody>
          <a:bodyPr>
            <a:normAutofit fontScale="90000"/>
          </a:bodyPr>
          <a:lstStyle/>
          <a:p>
            <a:r>
              <a:rPr lang="en-IN" sz="5600" dirty="0">
                <a:latin typeface="Century Gothic" panose="020B0502020202020204" pitchFamily="34" charset="0"/>
              </a:rPr>
              <a:t>SLOPE VARIATIONS</a:t>
            </a:r>
            <a:br>
              <a:rPr lang="en-IN" dirty="0">
                <a:latin typeface="Century Gothic" panose="020B0502020202020204" pitchFamily="34" charset="0"/>
              </a:rPr>
            </a:br>
            <a:br>
              <a:rPr lang="en-IN" dirty="0">
                <a:latin typeface="Century Gothic" panose="020B0502020202020204" pitchFamily="34" charset="0"/>
              </a:rPr>
            </a:br>
            <a:br>
              <a:rPr lang="en-IN" dirty="0">
                <a:latin typeface="Century Gothic" panose="020B0502020202020204" pitchFamily="34" charset="0"/>
              </a:rPr>
            </a:br>
            <a:endParaRPr lang="en-IN" dirty="0">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300524" y="2215030"/>
            <a:ext cx="9855156" cy="3808603"/>
          </a:xfrm>
        </p:spPr>
        <p:txBody>
          <a:bodyPr>
            <a:normAutofit fontScale="25000" lnSpcReduction="20000"/>
          </a:bodyPr>
          <a:lstStyle/>
          <a:p>
            <a:pPr>
              <a:lnSpc>
                <a:spcPct val="115000"/>
              </a:lnSpc>
              <a:spcBef>
                <a:spcPts val="1200"/>
              </a:spcBef>
              <a:spcAft>
                <a:spcPts val="1200"/>
              </a:spcAft>
            </a:pPr>
            <a:r>
              <a:rPr lang="en-GB" sz="7200" cap="small" dirty="0">
                <a:solidFill>
                  <a:schemeClr val="tx1"/>
                </a:solidFill>
                <a:effectLst/>
                <a:latin typeface="Century Gothic" panose="020B0502020202020204" pitchFamily="34" charset="0"/>
                <a:ea typeface="Arial" panose="020B0604020202020204" pitchFamily="34" charset="0"/>
              </a:rPr>
              <a:t>During </a:t>
            </a:r>
            <a:r>
              <a:rPr lang="en-GB" sz="7200" b="1" cap="small" dirty="0">
                <a:solidFill>
                  <a:schemeClr val="tx1"/>
                </a:solidFill>
                <a:effectLst/>
                <a:latin typeface="Century Gothic" panose="020B0502020202020204" pitchFamily="34" charset="0"/>
                <a:ea typeface="Arial" panose="020B0604020202020204" pitchFamily="34" charset="0"/>
              </a:rPr>
              <a:t>uphill motion</a:t>
            </a:r>
            <a:r>
              <a:rPr lang="en-GB" sz="7200" cap="small" dirty="0">
                <a:solidFill>
                  <a:schemeClr val="tx1"/>
                </a:solidFill>
                <a:effectLst/>
                <a:latin typeface="Century Gothic" panose="020B0502020202020204" pitchFamily="34" charset="0"/>
                <a:ea typeface="Arial" panose="020B0604020202020204" pitchFamily="34" charset="0"/>
              </a:rPr>
              <a:t> in an electric bicycle, the motor experiences a significant increase in power demand as it must overcome gravity and the rider's weight. This results in a sharp peak in the load profile, with higher energy consumption the steeper the incline and the faster the desired speed. The motor works harder, draining the battery more quickly. Factors such as rider weight, slope gradient, and whether pedal assist is used can influence the intensity and duration of this high load.</a:t>
            </a:r>
            <a:endParaRPr lang="en-IN" sz="7200" cap="small" dirty="0">
              <a:solidFill>
                <a:schemeClr val="tx1"/>
              </a:solidFill>
              <a:effectLst/>
              <a:latin typeface="Century Gothic" panose="020B0502020202020204" pitchFamily="34" charset="0"/>
              <a:ea typeface="Arial" panose="020B0604020202020204" pitchFamily="34" charset="0"/>
            </a:endParaRPr>
          </a:p>
          <a:p>
            <a:pPr>
              <a:lnSpc>
                <a:spcPct val="115000"/>
              </a:lnSpc>
              <a:spcBef>
                <a:spcPts val="1200"/>
              </a:spcBef>
              <a:spcAft>
                <a:spcPts val="1200"/>
              </a:spcAft>
            </a:pPr>
            <a:r>
              <a:rPr lang="en-GB" sz="7200" cap="small" dirty="0">
                <a:solidFill>
                  <a:schemeClr val="tx1"/>
                </a:solidFill>
                <a:effectLst/>
                <a:latin typeface="Century Gothic" panose="020B0502020202020204" pitchFamily="34" charset="0"/>
                <a:ea typeface="Arial" panose="020B0604020202020204" pitchFamily="34" charset="0"/>
              </a:rPr>
              <a:t>In contrast, </a:t>
            </a:r>
            <a:r>
              <a:rPr lang="en-GB" sz="7200" b="1" cap="small" dirty="0">
                <a:solidFill>
                  <a:schemeClr val="tx1"/>
                </a:solidFill>
                <a:effectLst/>
                <a:latin typeface="Century Gothic" panose="020B0502020202020204" pitchFamily="34" charset="0"/>
                <a:ea typeface="Arial" panose="020B0604020202020204" pitchFamily="34" charset="0"/>
              </a:rPr>
              <a:t>downhill motion</a:t>
            </a:r>
            <a:r>
              <a:rPr lang="en-GB" sz="7200" cap="small" dirty="0">
                <a:solidFill>
                  <a:schemeClr val="tx1"/>
                </a:solidFill>
                <a:effectLst/>
                <a:latin typeface="Century Gothic" panose="020B0502020202020204" pitchFamily="34" charset="0"/>
                <a:ea typeface="Arial" panose="020B0604020202020204" pitchFamily="34" charset="0"/>
              </a:rPr>
              <a:t> requires minimal power or none at all, as gravity aids the movement. The load profile during downhill riding is low, and in some e-bikes with regenerative braking systems, energy may even be returned to the battery, creating a negative load. The steeper the descent, the lower the load on the motor, with braking or pedalling altering the power consumption slightly. Overall, downhill motion conserves battery life or can even help recharge it in regenerative systems.</a:t>
            </a:r>
            <a:endParaRPr lang="en-IN" sz="7200" cap="small" dirty="0">
              <a:solidFill>
                <a:schemeClr val="tx1"/>
              </a:solidFill>
              <a:effectLst/>
              <a:latin typeface="Century Gothic" panose="020B0502020202020204" pitchFamily="34" charset="0"/>
              <a:ea typeface="Arial" panose="020B0604020202020204" pitchFamily="34" charset="0"/>
            </a:endParaRPr>
          </a:p>
          <a:p>
            <a:endParaRPr lang="en-IN" dirty="0">
              <a:latin typeface="Century Gothic" panose="020B0502020202020204" pitchFamily="34" charset="0"/>
            </a:endParaRPr>
          </a:p>
        </p:txBody>
      </p:sp>
    </p:spTree>
    <p:extLst>
      <p:ext uri="{BB962C8B-B14F-4D97-AF65-F5344CB8AC3E}">
        <p14:creationId xmlns:p14="http://schemas.microsoft.com/office/powerpoint/2010/main" val="75616632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993202" y="163598"/>
            <a:ext cx="8791575" cy="2387600"/>
          </a:xfrm>
        </p:spPr>
        <p:txBody>
          <a:bodyPr>
            <a:normAutofit/>
          </a:bodyPr>
          <a:lstStyle/>
          <a:p>
            <a:r>
              <a:rPr lang="en-IN" sz="5000" dirty="0">
                <a:latin typeface="Century Gothic" panose="020B0502020202020204" pitchFamily="34" charset="0"/>
              </a:rPr>
              <a:t>TEMPERATURE VARIATIONS</a:t>
            </a: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152547" y="2944104"/>
            <a:ext cx="8791575" cy="1655762"/>
          </a:xfrm>
        </p:spPr>
        <p:txBody>
          <a:bodyPr vert="horz" lIns="91440" tIns="45720" rIns="91440" bIns="45720" rtlCol="0" anchor="t">
            <a:noAutofit/>
          </a:bodyPr>
          <a:lstStyle/>
          <a:p>
            <a:pPr marL="457200" indent="-457200">
              <a:buAutoNum type="arabicPeriod"/>
            </a:pPr>
            <a:r>
              <a:rPr lang="en-US" sz="2500" dirty="0">
                <a:solidFill>
                  <a:schemeClr val="tx1"/>
                </a:solidFill>
                <a:latin typeface="Century Gothic" panose="020B0502020202020204" pitchFamily="34" charset="0"/>
              </a:rPr>
              <a:t>COLD TEMPERATURE</a:t>
            </a:r>
          </a:p>
          <a:p>
            <a:pPr marL="457200" indent="-457200">
              <a:buAutoNum type="arabicPeriod"/>
            </a:pPr>
            <a:r>
              <a:rPr lang="en-IN" sz="2500" dirty="0">
                <a:solidFill>
                  <a:schemeClr val="tx1"/>
                </a:solidFill>
                <a:latin typeface="Century Gothic" panose="020B0502020202020204" pitchFamily="34" charset="0"/>
              </a:rPr>
              <a:t>IDEAL TEMPERATURE</a:t>
            </a:r>
          </a:p>
          <a:p>
            <a:pPr marL="457200" indent="-457200">
              <a:buAutoNum type="arabicPeriod"/>
            </a:pPr>
            <a:r>
              <a:rPr lang="en-US" sz="2500" dirty="0">
                <a:solidFill>
                  <a:schemeClr val="tx1"/>
                </a:solidFill>
                <a:latin typeface="Century Gothic" panose="020B0502020202020204" pitchFamily="34" charset="0"/>
              </a:rPr>
              <a:t>HOT TEMPERATURE</a:t>
            </a:r>
          </a:p>
        </p:txBody>
      </p:sp>
    </p:spTree>
    <p:extLst>
      <p:ext uri="{BB962C8B-B14F-4D97-AF65-F5344CB8AC3E}">
        <p14:creationId xmlns:p14="http://schemas.microsoft.com/office/powerpoint/2010/main" val="2739804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098038" y="1302020"/>
            <a:ext cx="8994111" cy="4253960"/>
          </a:xfrm>
        </p:spPr>
        <p:txBody>
          <a:bodyPr vert="horz" lIns="91440" tIns="45720" rIns="91440" bIns="45720" rtlCol="0" anchor="t">
            <a:normAutofit/>
          </a:bodyPr>
          <a:lstStyle/>
          <a:p>
            <a:r>
              <a:rPr lang="en-IN" sz="2500" dirty="0">
                <a:solidFill>
                  <a:schemeClr val="tx1"/>
                </a:solidFill>
                <a:latin typeface="Century Gothic" panose="020B0502020202020204" pitchFamily="34" charset="0"/>
              </a:rPr>
              <a:t>1.COLD </a:t>
            </a:r>
            <a:r>
              <a:rPr lang="en-IN" sz="2500" dirty="0">
                <a:solidFill>
                  <a:schemeClr val="tx1"/>
                </a:solidFill>
                <a:latin typeface="Century Gothic" panose="020B0502020202020204" pitchFamily="34" charset="0"/>
                <a:ea typeface="+mn-lt"/>
                <a:cs typeface="+mn-lt"/>
              </a:rPr>
              <a:t>TEMPERATURE</a:t>
            </a:r>
            <a:endParaRPr lang="en-IN" sz="2500" dirty="0">
              <a:solidFill>
                <a:schemeClr val="tx1"/>
              </a:solidFill>
              <a:latin typeface="Century Gothic" panose="020B0502020202020204" pitchFamily="34" charset="0"/>
              <a:ea typeface="+mn-lt"/>
              <a:cs typeface="Segoe UI"/>
            </a:endParaRPr>
          </a:p>
          <a:p>
            <a:pPr marL="342900" indent="-342900">
              <a:buFont typeface="Arial" panose="020B0604020202020204" pitchFamily="34" charset="0"/>
              <a:buChar char="•"/>
            </a:pPr>
            <a:r>
              <a:rPr lang="en-IN" sz="1800" dirty="0">
                <a:solidFill>
                  <a:schemeClr val="tx1"/>
                </a:solidFill>
                <a:latin typeface="Century Gothic" panose="020B0502020202020204" pitchFamily="34" charset="0"/>
                <a:ea typeface="+mn-lt"/>
                <a:cs typeface="+mn-lt"/>
              </a:rPr>
              <a:t>TEMPERATURE</a:t>
            </a:r>
            <a:r>
              <a:rPr lang="en-IN" sz="1800" cap="all" dirty="0">
                <a:solidFill>
                  <a:schemeClr val="tx1"/>
                </a:solidFill>
                <a:latin typeface="Century Gothic" panose="020B0502020202020204" pitchFamily="34" charset="0"/>
              </a:rPr>
              <a:t> </a:t>
            </a:r>
            <a:r>
              <a:rPr lang="en-IN" sz="1800" dirty="0">
                <a:solidFill>
                  <a:schemeClr val="tx1"/>
                </a:solidFill>
                <a:latin typeface="Century Gothic" panose="020B0502020202020204" pitchFamily="34" charset="0"/>
                <a:cs typeface="Segoe UI"/>
              </a:rPr>
              <a:t>RANGE-</a:t>
            </a:r>
            <a:r>
              <a:rPr lang="en-IN" sz="1800" dirty="0">
                <a:solidFill>
                  <a:schemeClr val="tx1"/>
                </a:solidFill>
                <a:latin typeface="Century Gothic" panose="020B0502020202020204" pitchFamily="34" charset="0"/>
                <a:ea typeface="+mn-lt"/>
                <a:cs typeface="+mn-lt"/>
              </a:rPr>
              <a:t>(</a:t>
            </a:r>
            <a:r>
              <a:rPr lang="en-IN" sz="1800" cap="all" dirty="0">
                <a:solidFill>
                  <a:schemeClr val="tx1"/>
                </a:solidFill>
                <a:latin typeface="Century Gothic" panose="020B0502020202020204" pitchFamily="34" charset="0"/>
                <a:ea typeface="+mn-lt"/>
                <a:cs typeface="+mn-lt"/>
              </a:rPr>
              <a:t>Below 10°C / 50°F)</a:t>
            </a:r>
            <a:endParaRPr lang="en-IN" sz="1800" cap="all" dirty="0">
              <a:solidFill>
                <a:schemeClr val="tx1"/>
              </a:solidFill>
              <a:latin typeface="Century Gothic" panose="020B0502020202020204" pitchFamily="34" charset="0"/>
              <a:cs typeface="Segoe UI"/>
            </a:endParaRPr>
          </a:p>
          <a:p>
            <a:pPr marL="342900" indent="-342900">
              <a:buFont typeface="Arial" panose="020B0604020202020204" pitchFamily="34" charset="0"/>
              <a:buChar char="•"/>
            </a:pPr>
            <a:r>
              <a:rPr lang="en-IN" sz="1800" dirty="0">
                <a:solidFill>
                  <a:schemeClr val="tx1"/>
                </a:solidFill>
                <a:latin typeface="Century Gothic" panose="020B0502020202020204" pitchFamily="34" charset="0"/>
                <a:ea typeface="+mn-lt"/>
                <a:cs typeface="+mn-lt"/>
              </a:rPr>
              <a:t>RATE OF DISCHARGE OF BATTERY IS  faster</a:t>
            </a:r>
            <a:endParaRPr lang="en-IN" sz="1800" dirty="0">
              <a:solidFill>
                <a:schemeClr val="tx1"/>
              </a:solidFill>
              <a:latin typeface="Century Gothic" panose="020B0502020202020204" pitchFamily="34" charset="0"/>
            </a:endParaRPr>
          </a:p>
          <a:p>
            <a:pPr marL="342900" indent="-342900">
              <a:buFont typeface="Arial" panose="020B0604020202020204" pitchFamily="34" charset="0"/>
              <a:buChar char="•"/>
            </a:pPr>
            <a:r>
              <a:rPr lang="en-IN" sz="1800" dirty="0">
                <a:solidFill>
                  <a:schemeClr val="tx1"/>
                </a:solidFill>
                <a:latin typeface="Century Gothic" panose="020B0502020202020204" pitchFamily="34" charset="0"/>
                <a:ea typeface="+mn-lt"/>
                <a:cs typeface="+mn-lt"/>
              </a:rPr>
              <a:t>Battery capacity and efficiency decrease</a:t>
            </a:r>
            <a:endParaRPr lang="en-IN" sz="1800" dirty="0">
              <a:solidFill>
                <a:schemeClr val="tx1"/>
              </a:solidFill>
              <a:latin typeface="Century Gothic" panose="020B0502020202020204" pitchFamily="34" charset="0"/>
            </a:endParaRPr>
          </a:p>
          <a:p>
            <a:pPr marL="342900" indent="-342900">
              <a:buFont typeface="Arial" panose="020B0604020202020204" pitchFamily="34" charset="0"/>
              <a:buChar char="•"/>
            </a:pPr>
            <a:r>
              <a:rPr lang="en-IN" sz="1800" dirty="0">
                <a:solidFill>
                  <a:schemeClr val="tx1"/>
                </a:solidFill>
                <a:latin typeface="Century Gothic" panose="020B0502020202020204" pitchFamily="34" charset="0"/>
                <a:ea typeface="+mn-lt"/>
                <a:cs typeface="+mn-lt"/>
              </a:rPr>
              <a:t>Discharge rate IS 20-30% higher than normal</a:t>
            </a:r>
            <a:endParaRPr lang="en-IN" sz="1800" dirty="0">
              <a:solidFill>
                <a:schemeClr val="tx1"/>
              </a:solidFill>
              <a:latin typeface="Century Gothic" panose="020B0502020202020204" pitchFamily="34" charset="0"/>
            </a:endParaRPr>
          </a:p>
          <a:p>
            <a:pPr marL="342900" indent="-342900">
              <a:buFont typeface="Arial" panose="020B0604020202020204" pitchFamily="34" charset="0"/>
              <a:buChar char="•"/>
            </a:pPr>
            <a:r>
              <a:rPr lang="en-IN" sz="1800" dirty="0">
                <a:solidFill>
                  <a:schemeClr val="tx1"/>
                </a:solidFill>
                <a:latin typeface="Century Gothic" panose="020B0502020202020204" pitchFamily="34" charset="0"/>
                <a:ea typeface="+mn-lt"/>
                <a:cs typeface="+mn-lt"/>
              </a:rPr>
              <a:t>Extreme cold may cause temporary capacity loss</a:t>
            </a:r>
            <a:endParaRPr lang="en-IN" sz="1800" dirty="0">
              <a:solidFill>
                <a:schemeClr val="tx1"/>
              </a:solidFill>
              <a:latin typeface="Century Gothic" panose="020B0502020202020204" pitchFamily="34" charset="0"/>
            </a:endParaRPr>
          </a:p>
          <a:p>
            <a:endParaRPr lang="en-IN" dirty="0">
              <a:latin typeface="Century Gothic" panose="020B0502020202020204" pitchFamily="34" charset="0"/>
            </a:endParaRPr>
          </a:p>
          <a:p>
            <a:endParaRPr lang="en-IN" dirty="0">
              <a:latin typeface="Century Gothic" panose="020B0502020202020204" pitchFamily="34" charset="0"/>
            </a:endParaRPr>
          </a:p>
          <a:p>
            <a:endParaRPr lang="en-IN" dirty="0">
              <a:latin typeface="Century Gothic" panose="020B0502020202020204" pitchFamily="34" charset="0"/>
            </a:endParaRPr>
          </a:p>
        </p:txBody>
      </p:sp>
    </p:spTree>
    <p:extLst>
      <p:ext uri="{BB962C8B-B14F-4D97-AF65-F5344CB8AC3E}">
        <p14:creationId xmlns:p14="http://schemas.microsoft.com/office/powerpoint/2010/main" val="30919995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214392" y="1917593"/>
            <a:ext cx="9315580" cy="2408493"/>
          </a:xfrm>
        </p:spPr>
        <p:txBody>
          <a:bodyPr vert="horz" lIns="91440" tIns="45720" rIns="91440" bIns="45720" rtlCol="0" anchor="t">
            <a:normAutofit/>
          </a:bodyPr>
          <a:lstStyle/>
          <a:p>
            <a:r>
              <a:rPr lang="en-IN" sz="2700" dirty="0">
                <a:solidFill>
                  <a:schemeClr val="tx1"/>
                </a:solidFill>
                <a:latin typeface="Century Gothic" panose="020B0502020202020204" pitchFamily="34" charset="0"/>
              </a:rPr>
              <a:t>2. Ideal temperature</a:t>
            </a:r>
          </a:p>
          <a:p>
            <a:pPr marL="342900" indent="-342900">
              <a:buChar char="•"/>
            </a:pPr>
            <a:r>
              <a:rPr lang="en-IN" sz="1900" dirty="0">
                <a:solidFill>
                  <a:schemeClr val="tx1"/>
                </a:solidFill>
                <a:latin typeface="Century Gothic" panose="020B0502020202020204" pitchFamily="34" charset="0"/>
              </a:rPr>
              <a:t>TEMPERATURE</a:t>
            </a:r>
            <a:r>
              <a:rPr lang="en-IN" sz="1900" cap="all" dirty="0">
                <a:solidFill>
                  <a:schemeClr val="tx1"/>
                </a:solidFill>
                <a:latin typeface="Century Gothic" panose="020B0502020202020204" pitchFamily="34" charset="0"/>
              </a:rPr>
              <a:t> RANGE-</a:t>
            </a:r>
            <a:r>
              <a:rPr lang="en-IN" sz="1900" cap="all" dirty="0">
                <a:solidFill>
                  <a:schemeClr val="tx1"/>
                </a:solidFill>
                <a:latin typeface="Century Gothic" panose="020B0502020202020204" pitchFamily="34" charset="0"/>
                <a:ea typeface="+mn-lt"/>
                <a:cs typeface="+mn-lt"/>
              </a:rPr>
              <a:t>(20-25°C / 68-77°F)</a:t>
            </a:r>
            <a:endParaRPr lang="en-IN" sz="1900" cap="all" dirty="0">
              <a:solidFill>
                <a:schemeClr val="tx1"/>
              </a:solidFill>
              <a:latin typeface="Century Gothic" panose="020B0502020202020204" pitchFamily="34" charset="0"/>
            </a:endParaRPr>
          </a:p>
          <a:p>
            <a:pPr marL="342900" indent="-342900">
              <a:buChar char="•"/>
            </a:pPr>
            <a:r>
              <a:rPr lang="en-IN" sz="1900" dirty="0">
                <a:solidFill>
                  <a:schemeClr val="tx1"/>
                </a:solidFill>
                <a:latin typeface="Century Gothic" panose="020B0502020202020204" pitchFamily="34" charset="0"/>
                <a:ea typeface="+mn-lt"/>
                <a:cs typeface="+mn-lt"/>
              </a:rPr>
              <a:t>IT IS THE Best range for most OF THE batteries</a:t>
            </a:r>
            <a:endParaRPr lang="en-IN" sz="1900" dirty="0">
              <a:solidFill>
                <a:schemeClr val="tx1"/>
              </a:solidFill>
              <a:latin typeface="Century Gothic" panose="020B0502020202020204" pitchFamily="34" charset="0"/>
            </a:endParaRPr>
          </a:p>
          <a:p>
            <a:pPr marL="342900" indent="-342900">
              <a:buChar char="•"/>
            </a:pPr>
            <a:r>
              <a:rPr lang="en-IN" sz="1900" dirty="0">
                <a:solidFill>
                  <a:schemeClr val="tx1"/>
                </a:solidFill>
                <a:latin typeface="Century Gothic" panose="020B0502020202020204" pitchFamily="34" charset="0"/>
                <a:ea typeface="+mn-lt"/>
                <a:cs typeface="+mn-lt"/>
              </a:rPr>
              <a:t>RATE OF DISCHARGE RATE IS NORMAL</a:t>
            </a:r>
          </a:p>
          <a:p>
            <a:pPr marL="342900" indent="-342900">
              <a:buChar char="•"/>
            </a:pPr>
            <a:r>
              <a:rPr lang="en-IN" sz="1900" dirty="0">
                <a:solidFill>
                  <a:schemeClr val="tx1"/>
                </a:solidFill>
                <a:latin typeface="Century Gothic" panose="020B0502020202020204" pitchFamily="34" charset="0"/>
                <a:ea typeface="+mn-lt"/>
                <a:cs typeface="+mn-lt"/>
              </a:rPr>
              <a:t>Maximum</a:t>
            </a:r>
            <a:r>
              <a:rPr lang="en-IN" sz="1900" cap="all" dirty="0">
                <a:solidFill>
                  <a:schemeClr val="tx1"/>
                </a:solidFill>
                <a:latin typeface="Century Gothic" panose="020B0502020202020204" pitchFamily="34" charset="0"/>
                <a:ea typeface="+mn-lt"/>
                <a:cs typeface="+mn-lt"/>
              </a:rPr>
              <a:t> battery performance and range</a:t>
            </a:r>
            <a:endParaRPr lang="en-IN" sz="1900" cap="all" dirty="0">
              <a:solidFill>
                <a:schemeClr val="tx1"/>
              </a:solidFill>
              <a:latin typeface="Century Gothic" panose="020B0502020202020204" pitchFamily="34" charset="0"/>
            </a:endParaRPr>
          </a:p>
          <a:p>
            <a:endParaRPr lang="en-IN" dirty="0">
              <a:solidFill>
                <a:srgbClr val="82FFFF"/>
              </a:solidFill>
              <a:latin typeface="Century Gothic" panose="020B0502020202020204" pitchFamily="34" charset="0"/>
            </a:endParaRPr>
          </a:p>
          <a:p>
            <a:endParaRPr lang="en-IN" dirty="0">
              <a:latin typeface="Century Gothic" panose="020B0502020202020204" pitchFamily="34" charset="0"/>
            </a:endParaRPr>
          </a:p>
          <a:p>
            <a:pPr marL="342900" indent="-342900">
              <a:buChar char="•"/>
            </a:pPr>
            <a:endParaRPr lang="en-IN" dirty="0">
              <a:latin typeface="Century Gothic" panose="020B0502020202020204" pitchFamily="34" charset="0"/>
            </a:endParaRPr>
          </a:p>
          <a:p>
            <a:endParaRPr lang="en-IN" dirty="0">
              <a:latin typeface="Century Gothic" panose="020B0502020202020204" pitchFamily="34" charset="0"/>
            </a:endParaRPr>
          </a:p>
          <a:p>
            <a:endParaRPr lang="en-IN" dirty="0">
              <a:latin typeface="Century Gothic" panose="020B0502020202020204" pitchFamily="34" charset="0"/>
            </a:endParaRPr>
          </a:p>
          <a:p>
            <a:pPr marL="342900" indent="-342900">
              <a:buChar char="•"/>
            </a:pPr>
            <a:endParaRPr lang="en-IN" dirty="0">
              <a:latin typeface="Century Gothic" panose="020B0502020202020204" pitchFamily="34" charset="0"/>
            </a:endParaRPr>
          </a:p>
        </p:txBody>
      </p:sp>
    </p:spTree>
    <p:extLst>
      <p:ext uri="{BB962C8B-B14F-4D97-AF65-F5344CB8AC3E}">
        <p14:creationId xmlns:p14="http://schemas.microsoft.com/office/powerpoint/2010/main" val="116585876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147651" y="1971902"/>
            <a:ext cx="9506080" cy="2515649"/>
          </a:xfrm>
        </p:spPr>
        <p:txBody>
          <a:bodyPr vert="horz" lIns="91440" tIns="45720" rIns="91440" bIns="45720" rtlCol="0" anchor="t">
            <a:normAutofit/>
          </a:bodyPr>
          <a:lstStyle/>
          <a:p>
            <a:r>
              <a:rPr lang="en-IN" sz="2700" dirty="0">
                <a:solidFill>
                  <a:schemeClr val="tx1"/>
                </a:solidFill>
                <a:latin typeface="Century Gothic" panose="020B0502020202020204" pitchFamily="34" charset="0"/>
                <a:cs typeface="Segoe UI"/>
              </a:rPr>
              <a:t>3. HOT TEMPERATURE</a:t>
            </a:r>
            <a:endParaRPr lang="en-US" sz="2700" dirty="0">
              <a:solidFill>
                <a:schemeClr val="tx1"/>
              </a:solidFill>
              <a:latin typeface="Century Gothic" panose="020B0502020202020204" pitchFamily="34" charset="0"/>
              <a:cs typeface="Segoe UI"/>
            </a:endParaRPr>
          </a:p>
          <a:p>
            <a:pPr marL="342900" indent="-342900">
              <a:buFont typeface="Arial,Sans-Serif"/>
              <a:buChar char="•"/>
            </a:pPr>
            <a:r>
              <a:rPr lang="en-IN" sz="1800" dirty="0">
                <a:solidFill>
                  <a:schemeClr val="tx1"/>
                </a:solidFill>
                <a:latin typeface="Century Gothic" panose="020B0502020202020204" pitchFamily="34" charset="0"/>
                <a:cs typeface="Arial"/>
              </a:rPr>
              <a:t>TEMPERATURE</a:t>
            </a:r>
            <a:r>
              <a:rPr lang="en-IN" sz="1800" cap="all" dirty="0">
                <a:solidFill>
                  <a:schemeClr val="tx1"/>
                </a:solidFill>
                <a:latin typeface="Century Gothic" panose="020B0502020202020204" pitchFamily="34" charset="0"/>
                <a:cs typeface="Arial"/>
              </a:rPr>
              <a:t> RANGE-</a:t>
            </a:r>
            <a:r>
              <a:rPr lang="en-IN" sz="1800" cap="all" dirty="0">
                <a:solidFill>
                  <a:schemeClr val="tx1"/>
                </a:solidFill>
                <a:latin typeface="Century Gothic" panose="020B0502020202020204" pitchFamily="34" charset="0"/>
                <a:ea typeface="+mn-lt"/>
                <a:cs typeface="Arial"/>
              </a:rPr>
              <a:t>(</a:t>
            </a:r>
            <a:r>
              <a:rPr lang="en-IN" sz="1800" dirty="0">
                <a:solidFill>
                  <a:schemeClr val="tx1"/>
                </a:solidFill>
                <a:latin typeface="Century Gothic" panose="020B0502020202020204" pitchFamily="34" charset="0"/>
                <a:ea typeface="+mn-lt"/>
                <a:cs typeface="Arial"/>
              </a:rPr>
              <a:t>Above 30</a:t>
            </a:r>
            <a:r>
              <a:rPr lang="en-IN" sz="1800" cap="all" dirty="0">
                <a:solidFill>
                  <a:schemeClr val="tx1"/>
                </a:solidFill>
                <a:latin typeface="Century Gothic" panose="020B0502020202020204" pitchFamily="34" charset="0"/>
                <a:ea typeface="+mn-lt"/>
                <a:cs typeface="Arial"/>
              </a:rPr>
              <a:t>°C / </a:t>
            </a:r>
            <a:r>
              <a:rPr lang="en-IN" sz="1800" dirty="0">
                <a:solidFill>
                  <a:schemeClr val="tx1"/>
                </a:solidFill>
                <a:latin typeface="Century Gothic" panose="020B0502020202020204" pitchFamily="34" charset="0"/>
                <a:ea typeface="+mn-lt"/>
                <a:cs typeface="Arial"/>
              </a:rPr>
              <a:t>86</a:t>
            </a:r>
            <a:r>
              <a:rPr lang="en-IN" sz="1800" cap="all" dirty="0">
                <a:solidFill>
                  <a:schemeClr val="tx1"/>
                </a:solidFill>
                <a:latin typeface="Century Gothic" panose="020B0502020202020204" pitchFamily="34" charset="0"/>
                <a:ea typeface="+mn-lt"/>
                <a:cs typeface="Arial"/>
              </a:rPr>
              <a:t>°F)</a:t>
            </a:r>
            <a:endParaRPr lang="en-US" sz="1800" cap="all" dirty="0">
              <a:solidFill>
                <a:schemeClr val="tx1"/>
              </a:solidFill>
              <a:latin typeface="Century Gothic" panose="020B0502020202020204" pitchFamily="34" charset="0"/>
              <a:cs typeface="Arial"/>
            </a:endParaRPr>
          </a:p>
          <a:p>
            <a:pPr marL="342900" indent="-342900">
              <a:buFont typeface="Arial,Sans-Serif"/>
              <a:buChar char="•"/>
            </a:pPr>
            <a:r>
              <a:rPr lang="en-IN" sz="1800" dirty="0">
                <a:solidFill>
                  <a:schemeClr val="tx1"/>
                </a:solidFill>
                <a:latin typeface="Century Gothic" panose="020B0502020202020204" pitchFamily="34" charset="0"/>
                <a:cs typeface="Arial"/>
              </a:rPr>
              <a:t>RATE OF DISCHARGE OF BATTERY IS FASTER </a:t>
            </a:r>
          </a:p>
          <a:p>
            <a:pPr marL="342900" indent="-342900">
              <a:buFont typeface="Arial,Sans-Serif"/>
              <a:buChar char="•"/>
            </a:pPr>
            <a:r>
              <a:rPr lang="en-IN" sz="1800" dirty="0">
                <a:solidFill>
                  <a:schemeClr val="tx1"/>
                </a:solidFill>
                <a:latin typeface="Century Gothic" panose="020B0502020202020204" pitchFamily="34" charset="0"/>
                <a:cs typeface="Arial"/>
              </a:rPr>
              <a:t>Long-term heat exposure shortens battery life</a:t>
            </a:r>
          </a:p>
          <a:p>
            <a:pPr marL="342900" indent="-342900">
              <a:buFont typeface="Arial,Sans-Serif"/>
              <a:buChar char="•"/>
            </a:pPr>
            <a:r>
              <a:rPr lang="en-IN" sz="1800" dirty="0">
                <a:solidFill>
                  <a:schemeClr val="tx1"/>
                </a:solidFill>
                <a:latin typeface="Century Gothic" panose="020B0502020202020204" pitchFamily="34" charset="0"/>
                <a:cs typeface="Arial"/>
              </a:rPr>
              <a:t>Efficiency loss IS 10-15% in prolonged heat</a:t>
            </a:r>
            <a:endParaRPr lang="en-IN" sz="18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225117777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9407-3ECE-ABDF-9417-7C55F0407A29}"/>
              </a:ext>
            </a:extLst>
          </p:cNvPr>
          <p:cNvSpPr>
            <a:spLocks noGrp="1"/>
          </p:cNvSpPr>
          <p:nvPr>
            <p:ph type="ctrTitle"/>
          </p:nvPr>
        </p:nvSpPr>
        <p:spPr>
          <a:xfrm>
            <a:off x="1084289" y="0"/>
            <a:ext cx="8791575" cy="2387600"/>
          </a:xfrm>
        </p:spPr>
        <p:txBody>
          <a:bodyPr>
            <a:normAutofit/>
          </a:bodyPr>
          <a:lstStyle/>
          <a:p>
            <a:r>
              <a:rPr lang="en-IN" sz="5000" dirty="0">
                <a:latin typeface="Century Gothic" panose="020B0502020202020204" pitchFamily="34" charset="0"/>
              </a:rPr>
              <a:t>LOAD VARIATION</a:t>
            </a:r>
          </a:p>
        </p:txBody>
      </p:sp>
      <p:sp>
        <p:nvSpPr>
          <p:cNvPr id="3" name="Subtitle 2">
            <a:extLst>
              <a:ext uri="{FF2B5EF4-FFF2-40B4-BE49-F238E27FC236}">
                <a16:creationId xmlns:a16="http://schemas.microsoft.com/office/drawing/2014/main" id="{F807DBD7-0CAA-2EBE-301B-95C7AE52F446}"/>
              </a:ext>
            </a:extLst>
          </p:cNvPr>
          <p:cNvSpPr>
            <a:spLocks noGrp="1"/>
          </p:cNvSpPr>
          <p:nvPr>
            <p:ph type="subTitle" idx="1"/>
          </p:nvPr>
        </p:nvSpPr>
        <p:spPr>
          <a:xfrm>
            <a:off x="1206836" y="2814639"/>
            <a:ext cx="8791575" cy="1655762"/>
          </a:xfrm>
        </p:spPr>
        <p:txBody>
          <a:bodyPr>
            <a:noAutofit/>
          </a:bodyPr>
          <a:lstStyle/>
          <a:p>
            <a:pPr marL="457200" indent="-457200">
              <a:buFont typeface="+mj-lt"/>
              <a:buAutoNum type="arabicPeriod"/>
            </a:pPr>
            <a:r>
              <a:rPr lang="en-IN" sz="2500" dirty="0">
                <a:solidFill>
                  <a:schemeClr val="tx1"/>
                </a:solidFill>
                <a:latin typeface="Century Gothic" panose="020B0502020202020204" pitchFamily="34" charset="0"/>
              </a:rPr>
              <a:t>Low weight</a:t>
            </a:r>
          </a:p>
          <a:p>
            <a:pPr marL="457200" indent="-457200">
              <a:buFont typeface="+mj-lt"/>
              <a:buAutoNum type="arabicPeriod"/>
            </a:pPr>
            <a:r>
              <a:rPr lang="en-IN" sz="2500" dirty="0">
                <a:solidFill>
                  <a:schemeClr val="tx1"/>
                </a:solidFill>
                <a:latin typeface="Century Gothic" panose="020B0502020202020204" pitchFamily="34" charset="0"/>
              </a:rPr>
              <a:t>Average weight</a:t>
            </a:r>
          </a:p>
          <a:p>
            <a:pPr marL="457200" indent="-457200">
              <a:buFont typeface="+mj-lt"/>
              <a:buAutoNum type="arabicPeriod"/>
            </a:pPr>
            <a:r>
              <a:rPr lang="en-IN" sz="2500" dirty="0">
                <a:solidFill>
                  <a:schemeClr val="tx1"/>
                </a:solidFill>
                <a:latin typeface="Century Gothic" panose="020B0502020202020204" pitchFamily="34" charset="0"/>
              </a:rPr>
              <a:t>Heavy weight</a:t>
            </a:r>
          </a:p>
        </p:txBody>
      </p:sp>
    </p:spTree>
    <p:extLst>
      <p:ext uri="{BB962C8B-B14F-4D97-AF65-F5344CB8AC3E}">
        <p14:creationId xmlns:p14="http://schemas.microsoft.com/office/powerpoint/2010/main" val="369863102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230839" y="1833014"/>
            <a:ext cx="8791575" cy="2387600"/>
          </a:xfrm>
        </p:spPr>
        <p:txBody>
          <a:bodyPr>
            <a:normAutofit fontScale="90000"/>
          </a:bodyPr>
          <a:lstStyle/>
          <a:p>
            <a:br>
              <a:rPr lang="en-IN" dirty="0">
                <a:latin typeface="Century Gothic" panose="020B0502020202020204" pitchFamily="34" charset="0"/>
              </a:rPr>
            </a:br>
            <a:r>
              <a:rPr lang="en-IN" sz="2800" dirty="0">
                <a:solidFill>
                  <a:schemeClr val="tx1"/>
                </a:solidFill>
                <a:latin typeface="Century Gothic" panose="020B0502020202020204" pitchFamily="34" charset="0"/>
              </a:rPr>
              <a:t>1. Heavy weight</a:t>
            </a:r>
            <a:br>
              <a:rPr lang="en-IN" dirty="0">
                <a:latin typeface="Century Gothic" panose="020B0502020202020204" pitchFamily="34" charset="0"/>
              </a:rPr>
            </a:br>
            <a:br>
              <a:rPr lang="en-IN" dirty="0">
                <a:latin typeface="Century Gothic" panose="020B0502020202020204" pitchFamily="34" charset="0"/>
              </a:rPr>
            </a:br>
            <a:br>
              <a:rPr lang="en-IN" dirty="0">
                <a:latin typeface="Century Gothic" panose="020B0502020202020204" pitchFamily="34" charset="0"/>
              </a:rPr>
            </a:br>
            <a:endParaRPr lang="en-IN" dirty="0">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230839" y="1833014"/>
            <a:ext cx="9797865" cy="4026717"/>
          </a:xfrm>
        </p:spPr>
        <p:txBody>
          <a:bodyPr>
            <a:noAutofit/>
          </a:bodyPr>
          <a:lstStyle/>
          <a:p>
            <a:pPr marL="342900" lvl="0" indent="-342900">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Higher power demand:</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The motor draws significantly more current from the battery.</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Power consumption increases with increase in load </a:t>
            </a:r>
            <a:r>
              <a:rPr lang="en-GB" sz="1800" dirty="0">
                <a:solidFill>
                  <a:schemeClr val="tx1"/>
                </a:solidFill>
                <a:latin typeface="Century Gothic" panose="020B0502020202020204" pitchFamily="34" charset="0"/>
                <a:ea typeface="Arial" panose="020B0604020202020204" pitchFamily="34" charset="0"/>
              </a:rPr>
              <a:t>I. E weight</a:t>
            </a:r>
            <a:r>
              <a:rPr lang="en-GB" sz="1800" u="none" strike="noStrike" dirty="0">
                <a:solidFill>
                  <a:schemeClr val="tx1"/>
                </a:solidFill>
                <a:effectLst/>
                <a:latin typeface="Century Gothic" panose="020B0502020202020204" pitchFamily="34" charset="0"/>
                <a:ea typeface="Arial" panose="020B0604020202020204" pitchFamily="34" charset="0"/>
              </a:rPr>
              <a:t>.</a:t>
            </a:r>
            <a:endParaRPr lang="en-IN" sz="18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Battery discharge rate:</a:t>
            </a: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Faster discharge compared to less </a:t>
            </a:r>
            <a:r>
              <a:rPr lang="en-IN" sz="1800" u="none" strike="noStrike" dirty="0">
                <a:solidFill>
                  <a:schemeClr val="tx1"/>
                </a:solidFill>
                <a:effectLst/>
                <a:latin typeface="Century Gothic" panose="020B0502020202020204" pitchFamily="34" charset="0"/>
                <a:ea typeface="Arial" panose="020B0604020202020204" pitchFamily="34" charset="0"/>
              </a:rPr>
              <a:t>load.</a:t>
            </a:r>
          </a:p>
          <a:p>
            <a:pPr marL="742950" lvl="1" indent="-285750" algn="l">
              <a:lnSpc>
                <a:spcPct val="115000"/>
              </a:lnSpc>
              <a:buFont typeface="Arial" panose="020B0604020202020204" pitchFamily="34" charset="0"/>
              <a:buChar char="○"/>
            </a:pPr>
            <a:r>
              <a:rPr lang="en-GB" sz="1800" u="none" strike="noStrike" dirty="0">
                <a:solidFill>
                  <a:schemeClr val="tx1"/>
                </a:solidFill>
                <a:effectLst/>
                <a:latin typeface="Century Gothic" panose="020B0502020202020204" pitchFamily="34" charset="0"/>
                <a:ea typeface="Arial" panose="020B0604020202020204" pitchFamily="34" charset="0"/>
              </a:rPr>
              <a:t>The battery discharge rate increases with increase in load.</a:t>
            </a:r>
          </a:p>
          <a:p>
            <a:pPr marL="342900" lvl="0" indent="-342900">
              <a:lnSpc>
                <a:spcPct val="115000"/>
              </a:lnSpc>
              <a:buFont typeface="Arial" panose="020B0604020202020204" pitchFamily="34" charset="0"/>
              <a:buChar char="●"/>
            </a:pPr>
            <a:r>
              <a:rPr lang="en-GB" sz="1800" dirty="0">
                <a:solidFill>
                  <a:schemeClr val="tx1"/>
                </a:solidFill>
                <a:latin typeface="Century Gothic" panose="020B0502020202020204" pitchFamily="34" charset="0"/>
                <a:ea typeface="Arial" panose="020B0604020202020204" pitchFamily="34" charset="0"/>
              </a:rPr>
              <a:t>Battery efficiency</a:t>
            </a:r>
          </a:p>
          <a:p>
            <a:pPr marL="742950" lvl="1" indent="-285750" algn="l">
              <a:lnSpc>
                <a:spcPct val="115000"/>
              </a:lnSpc>
              <a:buFont typeface="Arial" panose="020B0604020202020204" pitchFamily="34" charset="0"/>
              <a:buChar char="○"/>
            </a:pPr>
            <a:r>
              <a:rPr lang="en-US" sz="1800" dirty="0">
                <a:solidFill>
                  <a:schemeClr val="tx1"/>
                </a:solidFill>
                <a:latin typeface="Century Gothic" panose="020B0502020202020204" pitchFamily="34" charset="0"/>
              </a:rPr>
              <a:t>Lower efficiency as the battery must work high to achieve and maintain speed</a:t>
            </a:r>
          </a:p>
          <a:p>
            <a:pPr marL="342900" lvl="0" indent="-342900">
              <a:lnSpc>
                <a:spcPct val="115000"/>
              </a:lnSpc>
              <a:buFont typeface="Arial" panose="020B0604020202020204" pitchFamily="34" charset="0"/>
              <a:buChar char="●"/>
            </a:pPr>
            <a:r>
              <a:rPr lang="en-GB" sz="1800" dirty="0">
                <a:solidFill>
                  <a:schemeClr val="tx1"/>
                </a:solidFill>
                <a:latin typeface="Century Gothic" panose="020B0502020202020204" pitchFamily="34" charset="0"/>
                <a:ea typeface="Arial" panose="020B0604020202020204" pitchFamily="34" charset="0"/>
              </a:rPr>
              <a:t>range</a:t>
            </a:r>
          </a:p>
          <a:p>
            <a:pPr marL="742950" lvl="1" indent="-285750" algn="l">
              <a:lnSpc>
                <a:spcPct val="115000"/>
              </a:lnSpc>
              <a:buFont typeface="Arial" panose="020B0604020202020204" pitchFamily="34" charset="0"/>
              <a:buChar char="○"/>
            </a:pPr>
            <a:r>
              <a:rPr lang="en-US" sz="1800" dirty="0">
                <a:solidFill>
                  <a:schemeClr val="tx1"/>
                </a:solidFill>
                <a:latin typeface="Century Gothic" panose="020B0502020202020204" pitchFamily="34" charset="0"/>
              </a:rPr>
              <a:t>Significantly less distance can be covered compared to lower weight</a:t>
            </a:r>
            <a:endParaRPr lang="en-US" sz="1800" b="0" i="0" dirty="0">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391514547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036E-4766-716E-CB00-EFA5A56A9AB8}"/>
              </a:ext>
            </a:extLst>
          </p:cNvPr>
          <p:cNvSpPr>
            <a:spLocks noGrp="1"/>
          </p:cNvSpPr>
          <p:nvPr>
            <p:ph type="ctrTitle"/>
          </p:nvPr>
        </p:nvSpPr>
        <p:spPr>
          <a:xfrm>
            <a:off x="1099750" y="1348033"/>
            <a:ext cx="8791575" cy="2655385"/>
          </a:xfrm>
        </p:spPr>
        <p:txBody>
          <a:bodyPr>
            <a:normAutofit fontScale="90000"/>
          </a:bodyPr>
          <a:lstStyle/>
          <a:p>
            <a:r>
              <a:rPr lang="en-IN" sz="5600" dirty="0">
                <a:solidFill>
                  <a:schemeClr val="tx1"/>
                </a:solidFill>
                <a:latin typeface="Century Gothic" panose="020B0502020202020204" pitchFamily="34" charset="0"/>
              </a:rPr>
              <a:t>load VARIATIONS</a:t>
            </a:r>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r>
              <a:rPr lang="en-IN" sz="2800" dirty="0">
                <a:solidFill>
                  <a:schemeClr val="tx1"/>
                </a:solidFill>
                <a:latin typeface="Century Gothic" panose="020B0502020202020204" pitchFamily="34" charset="0"/>
              </a:rPr>
              <a:t>2. Light weight</a:t>
            </a:r>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br>
              <a:rPr lang="en-IN" dirty="0">
                <a:solidFill>
                  <a:schemeClr val="tx1"/>
                </a:solidFill>
                <a:latin typeface="Century Gothic" panose="020B0502020202020204" pitchFamily="34" charset="0"/>
              </a:rPr>
            </a:br>
            <a:endParaRPr lang="en-IN" dirty="0">
              <a:solidFill>
                <a:schemeClr val="tx1"/>
              </a:solidFill>
              <a:latin typeface="Century Gothic" panose="020B0502020202020204" pitchFamily="34" charset="0"/>
            </a:endParaRPr>
          </a:p>
        </p:txBody>
      </p:sp>
      <p:sp>
        <p:nvSpPr>
          <p:cNvPr id="3" name="Subtitle 2">
            <a:extLst>
              <a:ext uri="{FF2B5EF4-FFF2-40B4-BE49-F238E27FC236}">
                <a16:creationId xmlns:a16="http://schemas.microsoft.com/office/drawing/2014/main" id="{2013B829-CA6B-4370-44C3-825BEBBD7D2E}"/>
              </a:ext>
            </a:extLst>
          </p:cNvPr>
          <p:cNvSpPr>
            <a:spLocks noGrp="1"/>
          </p:cNvSpPr>
          <p:nvPr>
            <p:ph type="subTitle" idx="1"/>
          </p:nvPr>
        </p:nvSpPr>
        <p:spPr>
          <a:xfrm>
            <a:off x="1231725" y="1684780"/>
            <a:ext cx="9118906" cy="4847995"/>
          </a:xfrm>
        </p:spPr>
        <p:txBody>
          <a:bodyPr>
            <a:normAutofit fontScale="62500" lnSpcReduction="20000"/>
          </a:bodyPr>
          <a:lstStyle/>
          <a:p>
            <a:pPr marL="342900" lvl="0" indent="-342900">
              <a:lnSpc>
                <a:spcPct val="115000"/>
              </a:lnSpc>
              <a:spcBef>
                <a:spcPts val="1200"/>
              </a:spcBef>
              <a:spcAft>
                <a:spcPts val="0"/>
              </a:spcAft>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Reduced power demand:</a:t>
            </a:r>
            <a:endParaRPr lang="en-IN" sz="26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Significantly lower power drawn from the battery.</a:t>
            </a:r>
            <a:endParaRPr lang="en-IN" sz="26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Power consumption decreases with </a:t>
            </a:r>
            <a:r>
              <a:rPr lang="en-GB" sz="2600" dirty="0">
                <a:solidFill>
                  <a:schemeClr val="tx1"/>
                </a:solidFill>
                <a:latin typeface="Century Gothic" panose="020B0502020202020204" pitchFamily="34" charset="0"/>
                <a:ea typeface="Arial" panose="020B0604020202020204" pitchFamily="34" charset="0"/>
              </a:rPr>
              <a:t>the decrease in weight</a:t>
            </a:r>
            <a:r>
              <a:rPr lang="en-GB" sz="2600" u="none" strike="noStrike" dirty="0">
                <a:solidFill>
                  <a:schemeClr val="tx1"/>
                </a:solidFill>
                <a:effectLst/>
                <a:latin typeface="Century Gothic" panose="020B0502020202020204" pitchFamily="34" charset="0"/>
                <a:ea typeface="Arial" panose="020B0604020202020204" pitchFamily="34" charset="0"/>
              </a:rPr>
              <a:t>.</a:t>
            </a:r>
            <a:endParaRPr lang="en-IN" sz="2600" u="none" strike="noStrike" dirty="0">
              <a:solidFill>
                <a:schemeClr val="tx1"/>
              </a:solidFill>
              <a:effectLst/>
              <a:latin typeface="Century Gothic" panose="020B0502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Battery discharge state:</a:t>
            </a:r>
            <a:endParaRPr lang="en-IN" sz="26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Slower discharge rate compared to heavier weight.</a:t>
            </a:r>
            <a:endParaRPr lang="en-IN" sz="2600" u="none" strike="noStrike" dirty="0">
              <a:solidFill>
                <a:schemeClr val="tx1"/>
              </a:solidFill>
              <a:effectLst/>
              <a:latin typeface="Century Gothic" panose="020B0502020202020204" pitchFamily="34" charset="0"/>
              <a:ea typeface="Arial" panose="020B0604020202020204" pitchFamily="34" charset="0"/>
            </a:endParaRPr>
          </a:p>
          <a:p>
            <a:pPr marL="742950" lvl="1" indent="-285750" algn="l">
              <a:lnSpc>
                <a:spcPct val="115000"/>
              </a:lnSpc>
              <a:buFont typeface="Arial" panose="020B0604020202020204" pitchFamily="34" charset="0"/>
              <a:buChar char="○"/>
            </a:pPr>
            <a:r>
              <a:rPr lang="en-GB" sz="2600" u="none" strike="noStrike" dirty="0">
                <a:solidFill>
                  <a:schemeClr val="tx1"/>
                </a:solidFill>
                <a:effectLst/>
                <a:latin typeface="Century Gothic" panose="020B0502020202020204" pitchFamily="34" charset="0"/>
                <a:ea typeface="Arial" panose="020B0604020202020204" pitchFamily="34" charset="0"/>
              </a:rPr>
              <a:t>The battery discharge rate decreases with decrease in weight.</a:t>
            </a:r>
          </a:p>
          <a:p>
            <a:pPr marL="342900" lvl="0" indent="-342900">
              <a:lnSpc>
                <a:spcPct val="115000"/>
              </a:lnSpc>
              <a:buFont typeface="Arial" panose="020B0604020202020204" pitchFamily="34" charset="0"/>
              <a:buChar char="●"/>
            </a:pPr>
            <a:r>
              <a:rPr lang="en-GB" sz="2600" dirty="0">
                <a:solidFill>
                  <a:schemeClr val="tx1"/>
                </a:solidFill>
                <a:latin typeface="Century Gothic" panose="020B0502020202020204" pitchFamily="34" charset="0"/>
                <a:ea typeface="Arial" panose="020B0604020202020204" pitchFamily="34" charset="0"/>
              </a:rPr>
              <a:t>Weight impact</a:t>
            </a:r>
          </a:p>
          <a:p>
            <a:pPr marL="742950" lvl="1" indent="-285750" algn="l">
              <a:lnSpc>
                <a:spcPct val="115000"/>
              </a:lnSpc>
              <a:buFont typeface="Arial" panose="020B0604020202020204" pitchFamily="34" charset="0"/>
              <a:buChar char="○"/>
            </a:pPr>
            <a:r>
              <a:rPr lang="en-US" sz="2600" b="0" i="0" dirty="0">
                <a:solidFill>
                  <a:schemeClr val="tx1"/>
                </a:solidFill>
                <a:effectLst/>
                <a:latin typeface="Century Gothic" panose="020B0502020202020204" pitchFamily="34" charset="0"/>
              </a:rPr>
              <a:t>Estimated 1-2% reduction in efficiency for every 10-20 kg increase in rider weight</a:t>
            </a:r>
          </a:p>
          <a:p>
            <a:pPr marL="342900" lvl="0" indent="-342900">
              <a:lnSpc>
                <a:spcPct val="115000"/>
              </a:lnSpc>
              <a:buFont typeface="Arial" panose="020B0604020202020204" pitchFamily="34" charset="0"/>
              <a:buChar char="●"/>
            </a:pPr>
            <a:r>
              <a:rPr lang="en-GB" sz="2600" dirty="0">
                <a:solidFill>
                  <a:schemeClr val="tx1"/>
                </a:solidFill>
                <a:latin typeface="Century Gothic" panose="020B0502020202020204" pitchFamily="34" charset="0"/>
                <a:ea typeface="Arial" panose="020B0604020202020204" pitchFamily="34" charset="0"/>
              </a:rPr>
              <a:t>Battery efficiency</a:t>
            </a:r>
          </a:p>
          <a:p>
            <a:pPr marL="742950" lvl="1" indent="-285750" algn="l">
              <a:lnSpc>
                <a:spcPct val="115000"/>
              </a:lnSpc>
              <a:buFont typeface="Arial" panose="020B0604020202020204" pitchFamily="34" charset="0"/>
              <a:buChar char="○"/>
            </a:pPr>
            <a:r>
              <a:rPr lang="en-US" sz="2600" dirty="0">
                <a:solidFill>
                  <a:schemeClr val="tx1"/>
                </a:solidFill>
                <a:latin typeface="Century Gothic" panose="020B0502020202020204" pitchFamily="34" charset="0"/>
              </a:rPr>
              <a:t>Higher efficiency as the battery can work less to achieve and maintain speed</a:t>
            </a:r>
          </a:p>
          <a:p>
            <a:pPr marL="342900" lvl="0" indent="-342900">
              <a:lnSpc>
                <a:spcPct val="115000"/>
              </a:lnSpc>
              <a:buFont typeface="Arial" panose="020B0604020202020204" pitchFamily="34" charset="0"/>
              <a:buChar char="●"/>
            </a:pPr>
            <a:r>
              <a:rPr lang="en-GB" sz="2600" dirty="0">
                <a:solidFill>
                  <a:schemeClr val="tx1"/>
                </a:solidFill>
                <a:latin typeface="Century Gothic" panose="020B0502020202020204" pitchFamily="34" charset="0"/>
                <a:ea typeface="Arial" panose="020B0604020202020204" pitchFamily="34" charset="0"/>
              </a:rPr>
              <a:t>range</a:t>
            </a:r>
          </a:p>
          <a:p>
            <a:pPr marL="742950" lvl="1" indent="-285750" algn="l">
              <a:lnSpc>
                <a:spcPct val="115000"/>
              </a:lnSpc>
              <a:buFont typeface="Arial" panose="020B0604020202020204" pitchFamily="34" charset="0"/>
              <a:buChar char="○"/>
            </a:pPr>
            <a:r>
              <a:rPr lang="en-US" sz="2600" dirty="0">
                <a:solidFill>
                  <a:schemeClr val="tx1"/>
                </a:solidFill>
                <a:latin typeface="Century Gothic" panose="020B0502020202020204" pitchFamily="34" charset="0"/>
              </a:rPr>
              <a:t>Significantly more distance can be covered compared to higher weight</a:t>
            </a:r>
            <a:endParaRPr lang="en-US" sz="2600" b="0" i="0" dirty="0">
              <a:solidFill>
                <a:schemeClr val="tx1"/>
              </a:solidFill>
              <a:effectLst/>
              <a:latin typeface="Century Gothic" panose="020B0502020202020204" pitchFamily="34" charset="0"/>
            </a:endParaRPr>
          </a:p>
          <a:p>
            <a:pPr marL="742950" lvl="1" indent="-285750" algn="l">
              <a:lnSpc>
                <a:spcPct val="115000"/>
              </a:lnSpc>
              <a:buFont typeface="Arial" panose="020B0604020202020204" pitchFamily="34" charset="0"/>
              <a:buChar char="○"/>
            </a:pPr>
            <a:endParaRPr lang="en-IN" sz="1100" u="none" strike="noStrike" dirty="0">
              <a:solidFill>
                <a:schemeClr val="tx1"/>
              </a:solidFill>
              <a:effectLst/>
              <a:latin typeface="Century Gothic" panose="020B0502020202020204" pitchFamily="34" charset="0"/>
              <a:ea typeface="Arial" panose="020B0604020202020204" pitchFamily="34" charset="0"/>
            </a:endParaRPr>
          </a:p>
        </p:txBody>
      </p:sp>
    </p:spTree>
    <p:extLst>
      <p:ext uri="{BB962C8B-B14F-4D97-AF65-F5344CB8AC3E}">
        <p14:creationId xmlns:p14="http://schemas.microsoft.com/office/powerpoint/2010/main" val="205066961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0FF33-93DA-D153-94FB-01FBA9BB9541}"/>
              </a:ext>
            </a:extLst>
          </p:cNvPr>
          <p:cNvSpPr>
            <a:spLocks noGrp="1"/>
          </p:cNvSpPr>
          <p:nvPr>
            <p:ph type="title"/>
          </p:nvPr>
        </p:nvSpPr>
        <p:spPr>
          <a:xfrm>
            <a:off x="1066800" y="263527"/>
            <a:ext cx="10058400" cy="1450757"/>
          </a:xfrm>
        </p:spPr>
        <p:txBody>
          <a:bodyPr>
            <a:normAutofit/>
          </a:bodyPr>
          <a:lstStyle/>
          <a:p>
            <a:r>
              <a:rPr lang="en-IN" sz="5000" dirty="0">
                <a:latin typeface="Century Gothic" panose="020B0502020202020204" pitchFamily="34" charset="0"/>
              </a:rPr>
              <a:t>Load variations</a:t>
            </a:r>
          </a:p>
        </p:txBody>
      </p:sp>
      <p:sp>
        <p:nvSpPr>
          <p:cNvPr id="3" name="Content Placeholder 2">
            <a:extLst>
              <a:ext uri="{FF2B5EF4-FFF2-40B4-BE49-F238E27FC236}">
                <a16:creationId xmlns:a16="http://schemas.microsoft.com/office/drawing/2014/main" id="{C558A398-B081-B635-20B9-CE3335A884A0}"/>
              </a:ext>
            </a:extLst>
          </p:cNvPr>
          <p:cNvSpPr>
            <a:spLocks noGrp="1"/>
          </p:cNvSpPr>
          <p:nvPr>
            <p:ph idx="1"/>
          </p:nvPr>
        </p:nvSpPr>
        <p:spPr/>
        <p:txBody>
          <a:bodyPr>
            <a:normAutofit/>
          </a:bodyPr>
          <a:lstStyle/>
          <a:p>
            <a:pPr marL="0" indent="0">
              <a:buNone/>
            </a:pPr>
            <a:r>
              <a:rPr lang="en-IN" sz="1800" dirty="0">
                <a:solidFill>
                  <a:schemeClr val="tx1"/>
                </a:solidFill>
                <a:latin typeface="Century Gothic" panose="020B0502020202020204" pitchFamily="34" charset="0"/>
              </a:rPr>
              <a:t>Consider an ideal condition where the weight of the person is 70 kilograms which is considered as average. For people more than the average weight the battery efficiency and mileage decreases and power consumption and battery discharge increases and vice versa.</a:t>
            </a:r>
          </a:p>
          <a:p>
            <a:pPr marL="0" indent="0">
              <a:buNone/>
            </a:pPr>
            <a:r>
              <a:rPr lang="en-IN" sz="1800" dirty="0">
                <a:solidFill>
                  <a:schemeClr val="tx1"/>
                </a:solidFill>
                <a:latin typeface="Century Gothic" panose="020B0502020202020204" pitchFamily="34" charset="0"/>
              </a:rPr>
              <a:t>The impact is significant only during inclines or long rides. While riding in a short route or with no inclination, weight does not impact much. Frequent starts/ stops will make more impact as it more power will be drawn when the bike has to move from rest</a:t>
            </a:r>
          </a:p>
        </p:txBody>
      </p:sp>
    </p:spTree>
    <p:extLst>
      <p:ext uri="{BB962C8B-B14F-4D97-AF65-F5344CB8AC3E}">
        <p14:creationId xmlns:p14="http://schemas.microsoft.com/office/powerpoint/2010/main" val="79526065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3870-33AD-C0B4-69B5-7F2C9C6418C9}"/>
              </a:ext>
            </a:extLst>
          </p:cNvPr>
          <p:cNvSpPr>
            <a:spLocks noGrp="1"/>
          </p:cNvSpPr>
          <p:nvPr>
            <p:ph type="ctrTitle"/>
          </p:nvPr>
        </p:nvSpPr>
        <p:spPr>
          <a:xfrm>
            <a:off x="963061" y="546958"/>
            <a:ext cx="8791575" cy="873898"/>
          </a:xfrm>
        </p:spPr>
        <p:txBody>
          <a:bodyPr>
            <a:normAutofit/>
          </a:bodyPr>
          <a:lstStyle/>
          <a:p>
            <a:r>
              <a:rPr lang="en-IN" sz="5000" dirty="0">
                <a:latin typeface="Century Gothic" panose="020B0502020202020204" pitchFamily="34" charset="0"/>
              </a:rPr>
              <a:t>Components Used</a:t>
            </a:r>
          </a:p>
        </p:txBody>
      </p:sp>
      <p:sp>
        <p:nvSpPr>
          <p:cNvPr id="3" name="Subtitle 2">
            <a:extLst>
              <a:ext uri="{FF2B5EF4-FFF2-40B4-BE49-F238E27FC236}">
                <a16:creationId xmlns:a16="http://schemas.microsoft.com/office/drawing/2014/main" id="{7E84DC85-2C1C-6876-D9E4-70DE278764C5}"/>
              </a:ext>
            </a:extLst>
          </p:cNvPr>
          <p:cNvSpPr>
            <a:spLocks noGrp="1"/>
          </p:cNvSpPr>
          <p:nvPr>
            <p:ph type="subTitle" idx="1"/>
          </p:nvPr>
        </p:nvSpPr>
        <p:spPr>
          <a:xfrm>
            <a:off x="1057330" y="1571685"/>
            <a:ext cx="8987224" cy="5187734"/>
          </a:xfrm>
        </p:spPr>
        <p:txBody>
          <a:bodyPr vert="horz" lIns="91440" tIns="45720" rIns="91440" bIns="45720" rtlCol="0" anchor="t">
            <a:noAutofit/>
          </a:bodyPr>
          <a:lstStyle/>
          <a:p>
            <a:r>
              <a:rPr lang="en-IN" sz="1800" dirty="0">
                <a:solidFill>
                  <a:schemeClr val="tx1"/>
                </a:solidFill>
                <a:latin typeface="Century Gothic" panose="020B0502020202020204" pitchFamily="34" charset="0"/>
              </a:rPr>
              <a:t>1.</a:t>
            </a:r>
            <a:r>
              <a:rPr lang="en-IN" sz="2500" dirty="0">
                <a:solidFill>
                  <a:schemeClr val="tx1"/>
                </a:solidFill>
                <a:latin typeface="Century Gothic" panose="020B0502020202020204" pitchFamily="34" charset="0"/>
              </a:rPr>
              <a:t>MICROCONTROLLER</a:t>
            </a:r>
          </a:p>
          <a:p>
            <a:pPr marL="342900" indent="-342900">
              <a:buChar char="•"/>
            </a:pPr>
            <a:r>
              <a:rPr lang="en-IN" sz="1800" dirty="0">
                <a:solidFill>
                  <a:schemeClr val="tx1"/>
                </a:solidFill>
                <a:latin typeface="Century Gothic" panose="020B0502020202020204" pitchFamily="34" charset="0"/>
                <a:ea typeface="+mn-lt"/>
                <a:cs typeface="+mn-lt"/>
              </a:rPr>
              <a:t>ESP8266 Wi-Fi microchip with full TCP/IP stack and microcontroller</a:t>
            </a:r>
            <a:endParaRPr lang="en-IN" sz="1800" dirty="0">
              <a:solidFill>
                <a:schemeClr val="tx1"/>
              </a:solidFill>
              <a:latin typeface="Century Gothic" panose="020B0502020202020204" pitchFamily="34" charset="0"/>
            </a:endParaRPr>
          </a:p>
          <a:p>
            <a:r>
              <a:rPr lang="en-IN" sz="1800" dirty="0">
                <a:solidFill>
                  <a:schemeClr val="tx1"/>
                </a:solidFill>
                <a:latin typeface="Century Gothic" panose="020B0502020202020204" pitchFamily="34" charset="0"/>
              </a:rPr>
              <a:t>2.</a:t>
            </a:r>
            <a:r>
              <a:rPr lang="en-IN" sz="2500" dirty="0">
                <a:solidFill>
                  <a:schemeClr val="tx1"/>
                </a:solidFill>
                <a:latin typeface="Century Gothic" panose="020B0502020202020204" pitchFamily="34" charset="0"/>
              </a:rPr>
              <a:t>Sensors</a:t>
            </a:r>
          </a:p>
          <a:p>
            <a:pPr marL="342900" indent="-342900">
              <a:buChar char="•"/>
            </a:pPr>
            <a:r>
              <a:rPr lang="en-IN" sz="1800" dirty="0">
                <a:solidFill>
                  <a:schemeClr val="tx1"/>
                </a:solidFill>
                <a:latin typeface="Century Gothic" panose="020B0502020202020204" pitchFamily="34" charset="0"/>
                <a:ea typeface="+mn-lt"/>
                <a:cs typeface="+mn-lt"/>
              </a:rPr>
              <a:t>ACS712 : Hall effect-based current sensor provides an analogue voltage output proportional to the current passing through the sensor. to measure power drawn by the electric motor.</a:t>
            </a:r>
          </a:p>
          <a:p>
            <a:pPr marL="342900" indent="-342900">
              <a:buChar char="•"/>
            </a:pPr>
            <a:r>
              <a:rPr lang="en-IN" sz="1800" dirty="0">
                <a:solidFill>
                  <a:schemeClr val="tx1"/>
                </a:solidFill>
                <a:latin typeface="Century Gothic" panose="020B0502020202020204" pitchFamily="34" charset="0"/>
                <a:ea typeface="+mn-lt"/>
                <a:cs typeface="+mn-lt"/>
              </a:rPr>
              <a:t>MPU6050 : used to measure acceleration, rotation, and orientation in embedded systems. To detect the slope angle (or inclination) of a surface</a:t>
            </a:r>
          </a:p>
          <a:p>
            <a:pPr marL="342900" indent="-342900">
              <a:buChar char="•"/>
            </a:pPr>
            <a:r>
              <a:rPr lang="en-IN" sz="1800" dirty="0">
                <a:solidFill>
                  <a:schemeClr val="tx1"/>
                </a:solidFill>
                <a:latin typeface="Century Gothic" panose="020B0502020202020204" pitchFamily="34" charset="0"/>
                <a:ea typeface="+mn-lt"/>
                <a:cs typeface="+mn-lt"/>
              </a:rPr>
              <a:t>DHT11 : digital sensor for measuring temperature and humidity.</a:t>
            </a:r>
          </a:p>
          <a:p>
            <a:endParaRPr lang="en-IN" dirty="0">
              <a:latin typeface="Century Gothic" panose="020B0502020202020204" pitchFamily="34" charset="0"/>
            </a:endParaRPr>
          </a:p>
        </p:txBody>
      </p:sp>
    </p:spTree>
    <p:extLst>
      <p:ext uri="{BB962C8B-B14F-4D97-AF65-F5344CB8AC3E}">
        <p14:creationId xmlns:p14="http://schemas.microsoft.com/office/powerpoint/2010/main" val="214766634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F49F5-4FDC-EE1F-DCF2-F43677FF9338}"/>
              </a:ext>
            </a:extLst>
          </p:cNvPr>
          <p:cNvSpPr>
            <a:spLocks noGrp="1"/>
          </p:cNvSpPr>
          <p:nvPr>
            <p:ph type="title"/>
          </p:nvPr>
        </p:nvSpPr>
        <p:spPr>
          <a:xfrm>
            <a:off x="989011" y="258323"/>
            <a:ext cx="10058400" cy="1450757"/>
          </a:xfrm>
        </p:spPr>
        <p:txBody>
          <a:bodyPr>
            <a:normAutofit/>
          </a:bodyPr>
          <a:lstStyle/>
          <a:p>
            <a:r>
              <a:rPr lang="en-US" sz="5000" dirty="0"/>
              <a:t>Components used</a:t>
            </a:r>
            <a:endParaRPr lang="en-IN" sz="5000" dirty="0"/>
          </a:p>
        </p:txBody>
      </p:sp>
      <p:sp>
        <p:nvSpPr>
          <p:cNvPr id="3" name="Content Placeholder 2">
            <a:extLst>
              <a:ext uri="{FF2B5EF4-FFF2-40B4-BE49-F238E27FC236}">
                <a16:creationId xmlns:a16="http://schemas.microsoft.com/office/drawing/2014/main" id="{C081FB3D-5034-6D58-AB34-E66D3EE08C1F}"/>
              </a:ext>
            </a:extLst>
          </p:cNvPr>
          <p:cNvSpPr>
            <a:spLocks noGrp="1"/>
          </p:cNvSpPr>
          <p:nvPr>
            <p:ph idx="1"/>
          </p:nvPr>
        </p:nvSpPr>
        <p:spPr>
          <a:xfrm>
            <a:off x="1141412" y="1847654"/>
            <a:ext cx="9905999" cy="3943547"/>
          </a:xfrm>
        </p:spPr>
        <p:txBody>
          <a:bodyPr>
            <a:normAutofit/>
          </a:bodyPr>
          <a:lstStyle/>
          <a:p>
            <a:pPr marL="0" indent="0">
              <a:buNone/>
            </a:pPr>
            <a:r>
              <a:rPr lang="en-IN" sz="1800" dirty="0">
                <a:solidFill>
                  <a:schemeClr val="tx1"/>
                </a:solidFill>
                <a:latin typeface="Century Gothic" panose="020B0502020202020204" pitchFamily="34" charset="0"/>
              </a:rPr>
              <a:t>3.</a:t>
            </a:r>
            <a:r>
              <a:rPr lang="en-IN" sz="2700" dirty="0">
                <a:solidFill>
                  <a:schemeClr val="tx1"/>
                </a:solidFill>
                <a:latin typeface="Century Gothic" panose="020B0502020202020204" pitchFamily="34" charset="0"/>
              </a:rPr>
              <a:t>DISPLAY DRIVER</a:t>
            </a:r>
          </a:p>
          <a:p>
            <a:pPr marL="342900" indent="-342900">
              <a:buChar char="•"/>
            </a:pPr>
            <a:r>
              <a:rPr lang="en-IN" sz="1900" dirty="0">
                <a:solidFill>
                  <a:schemeClr val="tx1"/>
                </a:solidFill>
                <a:latin typeface="Century Gothic" panose="020B0502020202020204" pitchFamily="34" charset="0"/>
                <a:ea typeface="+mn-lt"/>
                <a:cs typeface="+mn-lt"/>
              </a:rPr>
              <a:t>SSD1306 : DISPLAYS real-time sensor data, such as temperature, humidity, or other metrics, by refreshing the display as new data comes in.</a:t>
            </a:r>
          </a:p>
          <a:p>
            <a:pPr marL="0" indent="0">
              <a:buNone/>
            </a:pPr>
            <a:endParaRPr lang="en-IN" sz="1800" dirty="0">
              <a:solidFill>
                <a:schemeClr val="tx1"/>
              </a:solidFill>
              <a:latin typeface="Century Gothic" panose="020B0502020202020204" pitchFamily="34" charset="0"/>
            </a:endParaRPr>
          </a:p>
          <a:p>
            <a:pPr marL="0" indent="0">
              <a:buNone/>
            </a:pPr>
            <a:r>
              <a:rPr lang="en-IN" sz="1800" dirty="0">
                <a:solidFill>
                  <a:schemeClr val="tx1"/>
                </a:solidFill>
                <a:latin typeface="Century Gothic" panose="020B0502020202020204" pitchFamily="34" charset="0"/>
              </a:rPr>
              <a:t>4.</a:t>
            </a:r>
            <a:r>
              <a:rPr lang="en-IN" sz="2700" dirty="0">
                <a:solidFill>
                  <a:schemeClr val="tx1"/>
                </a:solidFill>
                <a:latin typeface="Century Gothic" panose="020B0502020202020204" pitchFamily="34" charset="0"/>
              </a:rPr>
              <a:t>SOFTWARE APPLICATIONS</a:t>
            </a:r>
          </a:p>
          <a:p>
            <a:pPr marL="285750" indent="-285750">
              <a:buChar char="•"/>
            </a:pPr>
            <a:r>
              <a:rPr lang="en-IN" sz="1900" dirty="0">
                <a:solidFill>
                  <a:schemeClr val="tx1"/>
                </a:solidFill>
                <a:latin typeface="Century Gothic" panose="020B0502020202020204" pitchFamily="34" charset="0"/>
              </a:rPr>
              <a:t>BLYNK</a:t>
            </a:r>
            <a:r>
              <a:rPr lang="en-IN" sz="1900" cap="all" dirty="0">
                <a:solidFill>
                  <a:schemeClr val="tx1"/>
                </a:solidFill>
                <a:latin typeface="Century Gothic" panose="020B0502020202020204" pitchFamily="34" charset="0"/>
              </a:rPr>
              <a:t> APP </a:t>
            </a:r>
            <a:r>
              <a:rPr lang="en-IN" sz="1900" cap="all" dirty="0">
                <a:solidFill>
                  <a:schemeClr val="tx1"/>
                </a:solidFill>
                <a:latin typeface="Century Gothic" panose="020B0502020202020204" pitchFamily="34" charset="0"/>
                <a:ea typeface="+mn-lt"/>
                <a:cs typeface="+mn-lt"/>
              </a:rPr>
              <a:t>: to control and monitor hardware remotely via a mobile app or web interface. The Blynk app connects to microcontrollers enabling real-time data collection, device control, and cloud interaction.</a:t>
            </a:r>
          </a:p>
          <a:p>
            <a:pPr marL="285750" indent="-285750">
              <a:buChar char="•"/>
            </a:pPr>
            <a:r>
              <a:rPr lang="en-IN" sz="1900" dirty="0">
                <a:solidFill>
                  <a:schemeClr val="tx1"/>
                </a:solidFill>
                <a:latin typeface="Century Gothic" panose="020B0502020202020204" pitchFamily="34" charset="0"/>
                <a:ea typeface="+mn-lt"/>
                <a:cs typeface="+mn-lt"/>
              </a:rPr>
              <a:t>Arduino Ide : it is used to program the microcontroller.</a:t>
            </a:r>
            <a:endParaRPr lang="en-IN" sz="1900" cap="all" dirty="0">
              <a:solidFill>
                <a:schemeClr val="tx1"/>
              </a:solidFill>
              <a:latin typeface="Century Gothic" panose="020B0502020202020204" pitchFamily="34" charset="0"/>
              <a:ea typeface="+mn-lt"/>
              <a:cs typeface="+mn-lt"/>
            </a:endParaRPr>
          </a:p>
          <a:p>
            <a:pPr marL="285750" indent="-285750">
              <a:buChar char="•"/>
            </a:pPr>
            <a:endParaRPr lang="en-IN" sz="1800" cap="all" dirty="0">
              <a:latin typeface="Century Gothic" panose="020B0502020202020204" pitchFamily="34" charset="0"/>
            </a:endParaRPr>
          </a:p>
          <a:p>
            <a:pPr marL="342900" indent="-342900">
              <a:buChar char="•"/>
            </a:pPr>
            <a:endParaRPr lang="en-IN" dirty="0">
              <a:solidFill>
                <a:srgbClr val="FFFFFF"/>
              </a:solidFill>
              <a:latin typeface="Century Gothic" panose="020B0502020202020204" pitchFamily="34" charset="0"/>
            </a:endParaRPr>
          </a:p>
          <a:p>
            <a:endParaRPr lang="en-IN" dirty="0">
              <a:solidFill>
                <a:srgbClr val="82FFFF"/>
              </a:solidFill>
              <a:latin typeface="Century Gothic" panose="020B0502020202020204" pitchFamily="34" charset="0"/>
            </a:endParaRPr>
          </a:p>
          <a:p>
            <a:endParaRPr lang="en-IN" dirty="0">
              <a:latin typeface="Century Gothic" panose="020B0502020202020204" pitchFamily="34" charset="0"/>
            </a:endParaRPr>
          </a:p>
          <a:p>
            <a:endParaRPr lang="en-IN" dirty="0"/>
          </a:p>
        </p:txBody>
      </p:sp>
    </p:spTree>
    <p:extLst>
      <p:ext uri="{BB962C8B-B14F-4D97-AF65-F5344CB8AC3E}">
        <p14:creationId xmlns:p14="http://schemas.microsoft.com/office/powerpoint/2010/main" val="140175428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118</TotalTime>
  <Words>1356</Words>
  <Application>Microsoft Office PowerPoint</Application>
  <PresentationFormat>Widescreen</PresentationFormat>
  <Paragraphs>129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Arial,Sans-Serif</vt:lpstr>
      <vt:lpstr>Calibri</vt:lpstr>
      <vt:lpstr>Calibri Light</vt:lpstr>
      <vt:lpstr>Century Gothic</vt:lpstr>
      <vt:lpstr>Retrospect</vt:lpstr>
      <vt:lpstr>Load Profile Monitoring System</vt:lpstr>
      <vt:lpstr>Table of contents</vt:lpstr>
      <vt:lpstr>Design of a load monitoring system for an e-cycle </vt:lpstr>
      <vt:lpstr>Outline of the project</vt:lpstr>
      <vt:lpstr>Load Profile of an Electric cycle</vt:lpstr>
      <vt:lpstr>Factors influencing Load Profile of an e-cycle </vt:lpstr>
      <vt:lpstr>Factors considered for this project</vt:lpstr>
      <vt:lpstr>SLOPE Variations   </vt:lpstr>
      <vt:lpstr>  1. UPHILL MOTION   </vt:lpstr>
      <vt:lpstr>SLOPE VARIATIONS  2. DOWNHILL MOTION   </vt:lpstr>
      <vt:lpstr>SLOPE VARIATIONS   </vt:lpstr>
      <vt:lpstr>TEMPERATURE VARIATIONS</vt:lpstr>
      <vt:lpstr>PowerPoint Presentation</vt:lpstr>
      <vt:lpstr>PowerPoint Presentation</vt:lpstr>
      <vt:lpstr>PowerPoint Presentation</vt:lpstr>
      <vt:lpstr>LOAD VARIATION</vt:lpstr>
      <vt:lpstr> 1. Heavy weight   </vt:lpstr>
      <vt:lpstr>load VARIATIONS  2. Light weight   </vt:lpstr>
      <vt:lpstr>Load variations</vt:lpstr>
      <vt:lpstr>Components Used</vt:lpstr>
      <vt:lpstr>Components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Load Profile Monitoring System</dc:title>
  <dc:creator>Dheeraj Medapati</dc:creator>
  <cp:lastModifiedBy>Paavanaa Shre</cp:lastModifiedBy>
  <cp:revision>8</cp:revision>
  <dcterms:created xsi:type="dcterms:W3CDTF">2024-09-09T14:14:57Z</dcterms:created>
  <dcterms:modified xsi:type="dcterms:W3CDTF">2026-07-03T07:08:37Z</dcterms:modified>
</cp:coreProperties>
</file>